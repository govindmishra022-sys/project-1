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67273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nternship%20project\project%201\modified%20data\final_data_set%20(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nternship%20project\project%201\modified%20data\final_data_set%20(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nternship%20project\project%201\modified%20data\final_data_set%20(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nternship%20project\project%201\modified%20data\final_data_set%20(Recover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nternship%20project\project%201\modified%20data\final_data_set%20(Recovere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internship%20project\project%201\modified%20data\final_data_set%20(Recovered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[final_data_set (Recovered).xlsx]PIVOT TABLE 3!PivotTable1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RENTALS : REGISTERED VS CASUAL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  <c:dLbl>
          <c:idx val="0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</c:pivotFmt>
      <c:pivotFmt>
        <c:idx val="5"/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</c:pivotFmts>
    <c:plotArea>
      <c:layout>
        <c:manualLayout>
          <c:layoutTarget val="inner"/>
          <c:xMode val="edge"/>
          <c:yMode val="edge"/>
          <c:x val="0.11913980868865773"/>
          <c:y val="0.18491308958206731"/>
          <c:w val="0.61374317197310002"/>
          <c:h val="0.6721098076076103"/>
        </c:manualLayout>
      </c:layout>
      <c:pieChart>
        <c:varyColors val="1"/>
        <c:ser>
          <c:idx val="0"/>
          <c:order val="0"/>
          <c:tx>
            <c:strRef>
              <c:f>'PIVOT TABLE 3'!$B$3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25400" h="12700"/>
              </a:sp3d>
            </c:spPr>
            <c:extLst>
              <c:ext xmlns:c16="http://schemas.microsoft.com/office/drawing/2014/chart" uri="{C3380CC4-5D6E-409C-BE32-E72D297353CC}">
                <c16:uniqueId val="{00000001-B10A-4FC8-A23C-A15230BAD62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25400" h="12700"/>
              </a:sp3d>
            </c:spPr>
            <c:extLst>
              <c:ext xmlns:c16="http://schemas.microsoft.com/office/drawing/2014/chart" uri="{C3380CC4-5D6E-409C-BE32-E72D297353CC}">
                <c16:uniqueId val="{00000003-B10A-4FC8-A23C-A15230BAD6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'PIVOT TABLE 3'!$A$4:$A$5</c:f>
              <c:strCache>
                <c:ptCount val="2"/>
                <c:pt idx="0">
                  <c:v>Sum of registered</c:v>
                </c:pt>
                <c:pt idx="1">
                  <c:v>Sum of casual</c:v>
                </c:pt>
              </c:strCache>
            </c:strRef>
          </c:cat>
          <c:val>
            <c:numRef>
              <c:f>'PIVOT TABLE 3'!$B$4:$B$5</c:f>
              <c:numCache>
                <c:formatCode>General</c:formatCode>
                <c:ptCount val="2"/>
                <c:pt idx="0">
                  <c:v>53383</c:v>
                </c:pt>
                <c:pt idx="1">
                  <c:v>4921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A-4FC8-A23C-A15230BAD62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857395975962196"/>
          <c:y val="0.14453973135333728"/>
          <c:w val="0.27941838095279592"/>
          <c:h val="0.16071541057367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[final_data_set (Recovered).xlsx]PIVOTE TABLE7!PivotTable1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DAILY</a:t>
            </a:r>
            <a:r>
              <a:rPr lang="en-US" baseline="0"/>
              <a:t> AND HOURLY PATTERN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'PIVOTE TABLE7'!$B$3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'PIVOTE TABLE7'!$A$4:$A$28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'PIVOTE TABLE7'!$B$4:$B$28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69-495C-A821-609FAF2A82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101689040"/>
        <c:axId val="2101686960"/>
      </c:barChart>
      <c:catAx>
        <c:axId val="21016890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aseline="0"/>
                  <a:t>DAILY HOURS TIME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1686960"/>
        <c:crosses val="autoZero"/>
        <c:auto val="1"/>
        <c:lblAlgn val="ctr"/>
        <c:lblOffset val="100"/>
        <c:noMultiLvlLbl val="0"/>
      </c:catAx>
      <c:valAx>
        <c:axId val="210168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RIDES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168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[final_data_set (Recovered).xlsx]pivot table 2!PivotTable7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AVERAGE HOURLY RENTALS : HRS VS WEEK DAY</a:t>
            </a:r>
          </a:p>
        </c:rich>
      </c:tx>
      <c:layout>
        <c:manualLayout>
          <c:xMode val="edge"/>
          <c:yMode val="edge"/>
          <c:x val="0.16944060022800184"/>
          <c:y val="3.2451443569553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3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4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9685724067100308"/>
          <c:y val="0.21127384173257113"/>
          <c:w val="0.67218760698390967"/>
          <c:h val="0.58315529996811621"/>
        </c:manualLayout>
      </c:layout>
      <c:areaChart>
        <c:grouping val="standard"/>
        <c:varyColors val="0"/>
        <c:ser>
          <c:idx val="0"/>
          <c:order val="0"/>
          <c:tx>
            <c:strRef>
              <c:f>'pivot table 2'!$B$3:$B$4</c:f>
              <c:strCache>
                <c:ptCount val="1"/>
                <c:pt idx="0">
                  <c:v>Sun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2'!$B$5:$B$29</c:f>
              <c:numCache>
                <c:formatCode>0.00</c:formatCode>
                <c:ptCount val="24"/>
                <c:pt idx="0">
                  <c:v>30.571428571428573</c:v>
                </c:pt>
                <c:pt idx="1">
                  <c:v>23.142857142857142</c:v>
                </c:pt>
                <c:pt idx="2">
                  <c:v>15</c:v>
                </c:pt>
                <c:pt idx="3">
                  <c:v>9</c:v>
                </c:pt>
                <c:pt idx="4">
                  <c:v>1.6666666666666667</c:v>
                </c:pt>
                <c:pt idx="5">
                  <c:v>2</c:v>
                </c:pt>
                <c:pt idx="6">
                  <c:v>1.8333333333333333</c:v>
                </c:pt>
                <c:pt idx="7">
                  <c:v>3.7142857142857144</c:v>
                </c:pt>
                <c:pt idx="8">
                  <c:v>14.571428571428571</c:v>
                </c:pt>
                <c:pt idx="9">
                  <c:v>32.714285714285715</c:v>
                </c:pt>
                <c:pt idx="10">
                  <c:v>71</c:v>
                </c:pt>
                <c:pt idx="11">
                  <c:v>85.571428571428569</c:v>
                </c:pt>
                <c:pt idx="12">
                  <c:v>117</c:v>
                </c:pt>
                <c:pt idx="13">
                  <c:v>110.71428571428571</c:v>
                </c:pt>
                <c:pt idx="14">
                  <c:v>110.85714285714286</c:v>
                </c:pt>
                <c:pt idx="15">
                  <c:v>114.14285714285714</c:v>
                </c:pt>
                <c:pt idx="16">
                  <c:v>106.57142857142857</c:v>
                </c:pt>
                <c:pt idx="17">
                  <c:v>87.142857142857139</c:v>
                </c:pt>
                <c:pt idx="18">
                  <c:v>65</c:v>
                </c:pt>
                <c:pt idx="19">
                  <c:v>45.571428571428569</c:v>
                </c:pt>
                <c:pt idx="20">
                  <c:v>36.857142857142854</c:v>
                </c:pt>
                <c:pt idx="21">
                  <c:v>30</c:v>
                </c:pt>
                <c:pt idx="22">
                  <c:v>27.428571428571427</c:v>
                </c:pt>
                <c:pt idx="23">
                  <c:v>19.142857142857142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60-410E-B88C-236ADBECCCFE}"/>
            </c:ext>
          </c:extLst>
        </c:ser>
        <c:ser>
          <c:idx val="1"/>
          <c:order val="1"/>
          <c:tx>
            <c:strRef>
              <c:f>'pivot table 2'!$C$3:$C$4</c:f>
              <c:strCache>
                <c:ptCount val="1"/>
                <c:pt idx="0">
                  <c:v>Mon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2000"/>
                  </a:schemeClr>
                </a:gs>
                <a:gs pos="100000">
                  <a:schemeClr val="accent2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 w="25400"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2'!$C$5:$C$29</c:f>
              <c:numCache>
                <c:formatCode>0.00</c:formatCode>
                <c:ptCount val="24"/>
                <c:pt idx="0">
                  <c:v>9.5714285714285712</c:v>
                </c:pt>
                <c:pt idx="1">
                  <c:v>5.5714285714285712</c:v>
                </c:pt>
                <c:pt idx="2">
                  <c:v>3.4</c:v>
                </c:pt>
                <c:pt idx="3">
                  <c:v>1.5</c:v>
                </c:pt>
                <c:pt idx="4">
                  <c:v>2</c:v>
                </c:pt>
                <c:pt idx="5">
                  <c:v>4.7142857142857144</c:v>
                </c:pt>
                <c:pt idx="6">
                  <c:v>24.857142857142858</c:v>
                </c:pt>
                <c:pt idx="7">
                  <c:v>71.857142857142861</c:v>
                </c:pt>
                <c:pt idx="8">
                  <c:v>161.16666666666666</c:v>
                </c:pt>
                <c:pt idx="9">
                  <c:v>93.5</c:v>
                </c:pt>
                <c:pt idx="10">
                  <c:v>49.333333333333336</c:v>
                </c:pt>
                <c:pt idx="11">
                  <c:v>47.666666666666664</c:v>
                </c:pt>
                <c:pt idx="12">
                  <c:v>65</c:v>
                </c:pt>
                <c:pt idx="13">
                  <c:v>64.333333333333329</c:v>
                </c:pt>
                <c:pt idx="14">
                  <c:v>66.833333333333329</c:v>
                </c:pt>
                <c:pt idx="15">
                  <c:v>60.166666666666664</c:v>
                </c:pt>
                <c:pt idx="16">
                  <c:v>83.666666666666671</c:v>
                </c:pt>
                <c:pt idx="17">
                  <c:v>161.16666666666666</c:v>
                </c:pt>
                <c:pt idx="18">
                  <c:v>148</c:v>
                </c:pt>
                <c:pt idx="19">
                  <c:v>101.66666666666667</c:v>
                </c:pt>
                <c:pt idx="20">
                  <c:v>67.666666666666671</c:v>
                </c:pt>
                <c:pt idx="21">
                  <c:v>51.666666666666664</c:v>
                </c:pt>
                <c:pt idx="22">
                  <c:v>27.166666666666668</c:v>
                </c:pt>
                <c:pt idx="2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5-8960-410E-B88C-236ADBECCCFE}"/>
            </c:ext>
          </c:extLst>
        </c:ser>
        <c:ser>
          <c:idx val="2"/>
          <c:order val="2"/>
          <c:tx>
            <c:strRef>
              <c:f>'pivot table 2'!$D$3:$D$4</c:f>
              <c:strCache>
                <c:ptCount val="1"/>
                <c:pt idx="0">
                  <c:v>Tue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2000"/>
                  </a:schemeClr>
                </a:gs>
                <a:gs pos="100000">
                  <a:schemeClr val="accent3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 w="25400"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2'!$D$5:$D$29</c:f>
              <c:numCache>
                <c:formatCode>0.00</c:formatCode>
                <c:ptCount val="24"/>
                <c:pt idx="0">
                  <c:v>8.8000000000000007</c:v>
                </c:pt>
                <c:pt idx="1">
                  <c:v>3.4</c:v>
                </c:pt>
                <c:pt idx="2">
                  <c:v>2</c:v>
                </c:pt>
                <c:pt idx="3">
                  <c:v>1.5</c:v>
                </c:pt>
                <c:pt idx="4">
                  <c:v>2</c:v>
                </c:pt>
                <c:pt idx="5">
                  <c:v>4.8</c:v>
                </c:pt>
                <c:pt idx="6">
                  <c:v>32</c:v>
                </c:pt>
                <c:pt idx="7">
                  <c:v>90.6</c:v>
                </c:pt>
                <c:pt idx="8">
                  <c:v>202.4</c:v>
                </c:pt>
                <c:pt idx="9">
                  <c:v>125</c:v>
                </c:pt>
                <c:pt idx="10">
                  <c:v>49.2</c:v>
                </c:pt>
                <c:pt idx="11">
                  <c:v>50.8</c:v>
                </c:pt>
                <c:pt idx="12">
                  <c:v>60.666666666666664</c:v>
                </c:pt>
                <c:pt idx="13">
                  <c:v>61</c:v>
                </c:pt>
                <c:pt idx="14">
                  <c:v>56.666666666666664</c:v>
                </c:pt>
                <c:pt idx="15">
                  <c:v>55.666666666666664</c:v>
                </c:pt>
                <c:pt idx="16">
                  <c:v>80.5</c:v>
                </c:pt>
                <c:pt idx="17">
                  <c:v>174.5</c:v>
                </c:pt>
                <c:pt idx="18">
                  <c:v>159.16666666666666</c:v>
                </c:pt>
                <c:pt idx="19">
                  <c:v>102.83333333333333</c:v>
                </c:pt>
                <c:pt idx="20">
                  <c:v>69.666666666666671</c:v>
                </c:pt>
                <c:pt idx="21">
                  <c:v>45.333333333333336</c:v>
                </c:pt>
                <c:pt idx="22">
                  <c:v>35.833333333333336</c:v>
                </c:pt>
                <c:pt idx="23">
                  <c:v>19.666666666666668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8960-410E-B88C-236ADBECCCFE}"/>
            </c:ext>
          </c:extLst>
        </c:ser>
        <c:ser>
          <c:idx val="3"/>
          <c:order val="3"/>
          <c:tx>
            <c:strRef>
              <c:f>'pivot table 2'!$E$3:$E$4</c:f>
              <c:strCache>
                <c:ptCount val="1"/>
                <c:pt idx="0">
                  <c:v>Wed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2000"/>
                  </a:schemeClr>
                </a:gs>
                <a:gs pos="100000">
                  <a:schemeClr val="accent4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 w="25400"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2'!$E$5:$E$29</c:f>
              <c:numCache>
                <c:formatCode>0.00</c:formatCode>
                <c:ptCount val="24"/>
                <c:pt idx="0">
                  <c:v>8.6666666666666661</c:v>
                </c:pt>
                <c:pt idx="1">
                  <c:v>5.666666666666667</c:v>
                </c:pt>
                <c:pt idx="2">
                  <c:v>3.8333333333333335</c:v>
                </c:pt>
                <c:pt idx="3">
                  <c:v>1.5</c:v>
                </c:pt>
                <c:pt idx="4">
                  <c:v>1.6666666666666667</c:v>
                </c:pt>
                <c:pt idx="5">
                  <c:v>4.333333333333333</c:v>
                </c:pt>
                <c:pt idx="6">
                  <c:v>25</c:v>
                </c:pt>
                <c:pt idx="7">
                  <c:v>68.333333333333329</c:v>
                </c:pt>
                <c:pt idx="8">
                  <c:v>157.66666666666666</c:v>
                </c:pt>
                <c:pt idx="9">
                  <c:v>101.5</c:v>
                </c:pt>
                <c:pt idx="10">
                  <c:v>48.5</c:v>
                </c:pt>
                <c:pt idx="11">
                  <c:v>44.5</c:v>
                </c:pt>
                <c:pt idx="12">
                  <c:v>62.833333333333336</c:v>
                </c:pt>
                <c:pt idx="13">
                  <c:v>64.833333333333329</c:v>
                </c:pt>
                <c:pt idx="14">
                  <c:v>56.333333333333336</c:v>
                </c:pt>
                <c:pt idx="15">
                  <c:v>62.666666666666664</c:v>
                </c:pt>
                <c:pt idx="16">
                  <c:v>79.833333333333329</c:v>
                </c:pt>
                <c:pt idx="17">
                  <c:v>151.33333333333334</c:v>
                </c:pt>
                <c:pt idx="18">
                  <c:v>163.80000000000001</c:v>
                </c:pt>
                <c:pt idx="19">
                  <c:v>101.2</c:v>
                </c:pt>
                <c:pt idx="20">
                  <c:v>76</c:v>
                </c:pt>
                <c:pt idx="21">
                  <c:v>61</c:v>
                </c:pt>
                <c:pt idx="22">
                  <c:v>44</c:v>
                </c:pt>
                <c:pt idx="23">
                  <c:v>27.2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7-8960-410E-B88C-236ADBECCCFE}"/>
            </c:ext>
          </c:extLst>
        </c:ser>
        <c:ser>
          <c:idx val="4"/>
          <c:order val="4"/>
          <c:tx>
            <c:strRef>
              <c:f>'pivot table 2'!$F$3:$F$4</c:f>
              <c:strCache>
                <c:ptCount val="1"/>
                <c:pt idx="0">
                  <c:v>Thu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96000"/>
                    <a:lumMod val="102000"/>
                  </a:schemeClr>
                </a:gs>
                <a:gs pos="100000">
                  <a:schemeClr val="accent5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 w="25400"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2'!$F$5:$F$29</c:f>
              <c:numCache>
                <c:formatCode>0.00</c:formatCode>
                <c:ptCount val="24"/>
                <c:pt idx="0">
                  <c:v>11.8</c:v>
                </c:pt>
                <c:pt idx="1">
                  <c:v>4.5999999999999996</c:v>
                </c:pt>
                <c:pt idx="2">
                  <c:v>2.2000000000000002</c:v>
                </c:pt>
                <c:pt idx="3">
                  <c:v>1.6666666666666667</c:v>
                </c:pt>
                <c:pt idx="4">
                  <c:v>1.75</c:v>
                </c:pt>
                <c:pt idx="5">
                  <c:v>4.2</c:v>
                </c:pt>
                <c:pt idx="6">
                  <c:v>32.799999999999997</c:v>
                </c:pt>
                <c:pt idx="7">
                  <c:v>90.8</c:v>
                </c:pt>
                <c:pt idx="8">
                  <c:v>207.2</c:v>
                </c:pt>
                <c:pt idx="9">
                  <c:v>131.80000000000001</c:v>
                </c:pt>
                <c:pt idx="10">
                  <c:v>45.4</c:v>
                </c:pt>
                <c:pt idx="11">
                  <c:v>54.6</c:v>
                </c:pt>
                <c:pt idx="12">
                  <c:v>71.599999999999994</c:v>
                </c:pt>
                <c:pt idx="13">
                  <c:v>72.2</c:v>
                </c:pt>
                <c:pt idx="14">
                  <c:v>57.6</c:v>
                </c:pt>
                <c:pt idx="15">
                  <c:v>60.4</c:v>
                </c:pt>
                <c:pt idx="16">
                  <c:v>72.833333333333329</c:v>
                </c:pt>
                <c:pt idx="17">
                  <c:v>162.16666666666666</c:v>
                </c:pt>
                <c:pt idx="18">
                  <c:v>150.5</c:v>
                </c:pt>
                <c:pt idx="19">
                  <c:v>108.33333333333333</c:v>
                </c:pt>
                <c:pt idx="20">
                  <c:v>87.333333333333329</c:v>
                </c:pt>
                <c:pt idx="21">
                  <c:v>51.5</c:v>
                </c:pt>
                <c:pt idx="22">
                  <c:v>42.833333333333336</c:v>
                </c:pt>
                <c:pt idx="23">
                  <c:v>26.166666666666668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8960-410E-B88C-236ADBECCCFE}"/>
            </c:ext>
          </c:extLst>
        </c:ser>
        <c:ser>
          <c:idx val="5"/>
          <c:order val="5"/>
          <c:tx>
            <c:strRef>
              <c:f>'pivot table 2'!$G$3:$G$4</c:f>
              <c:strCache>
                <c:ptCount val="1"/>
                <c:pt idx="0">
                  <c:v>Fri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96000"/>
                    <a:lumMod val="102000"/>
                  </a:schemeClr>
                </a:gs>
                <a:gs pos="100000">
                  <a:schemeClr val="accent6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 w="25400"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2'!$G$5:$G$29</c:f>
              <c:numCache>
                <c:formatCode>0.00</c:formatCode>
                <c:ptCount val="24"/>
                <c:pt idx="0">
                  <c:v>14.666666666666666</c:v>
                </c:pt>
                <c:pt idx="1">
                  <c:v>5.833333333333333</c:v>
                </c:pt>
                <c:pt idx="2">
                  <c:v>1.6666666666666667</c:v>
                </c:pt>
                <c:pt idx="3">
                  <c:v>1</c:v>
                </c:pt>
                <c:pt idx="4">
                  <c:v>1</c:v>
                </c:pt>
                <c:pt idx="5">
                  <c:v>5.5</c:v>
                </c:pt>
                <c:pt idx="6">
                  <c:v>24.333333333333332</c:v>
                </c:pt>
                <c:pt idx="7">
                  <c:v>73.833333333333329</c:v>
                </c:pt>
                <c:pt idx="8">
                  <c:v>196.33333333333334</c:v>
                </c:pt>
                <c:pt idx="9">
                  <c:v>130.83333333333334</c:v>
                </c:pt>
                <c:pt idx="10">
                  <c:v>52.333333333333336</c:v>
                </c:pt>
                <c:pt idx="11">
                  <c:v>56.166666666666664</c:v>
                </c:pt>
                <c:pt idx="12">
                  <c:v>64</c:v>
                </c:pt>
                <c:pt idx="13">
                  <c:v>74.333333333333329</c:v>
                </c:pt>
                <c:pt idx="14">
                  <c:v>64.833333333333329</c:v>
                </c:pt>
                <c:pt idx="15">
                  <c:v>68.333333333333329</c:v>
                </c:pt>
                <c:pt idx="16">
                  <c:v>96.333333333333329</c:v>
                </c:pt>
                <c:pt idx="17">
                  <c:v>178.66666666666666</c:v>
                </c:pt>
                <c:pt idx="18">
                  <c:v>136.66666666666666</c:v>
                </c:pt>
                <c:pt idx="19">
                  <c:v>96</c:v>
                </c:pt>
                <c:pt idx="20">
                  <c:v>61.333333333333336</c:v>
                </c:pt>
                <c:pt idx="21">
                  <c:v>46.666666666666664</c:v>
                </c:pt>
                <c:pt idx="22">
                  <c:v>36.833333333333336</c:v>
                </c:pt>
                <c:pt idx="23">
                  <c:v>29.333333333333332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8960-410E-B88C-236ADBECCCFE}"/>
            </c:ext>
          </c:extLst>
        </c:ser>
        <c:ser>
          <c:idx val="6"/>
          <c:order val="6"/>
          <c:tx>
            <c:strRef>
              <c:f>'pivot table 2'!$H$3:$H$4</c:f>
              <c:strCache>
                <c:ptCount val="1"/>
                <c:pt idx="0">
                  <c:v>Sat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tint val="96000"/>
                    <a:lumMod val="102000"/>
                  </a:schemeClr>
                </a:gs>
                <a:gs pos="100000">
                  <a:schemeClr val="accent1">
                    <a:lumMod val="60000"/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 w="25400"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cat>
            <c:strRef>
              <c:f>'pivot table 2'!$A$5:$A$29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 2'!$H$5:$H$29</c:f>
              <c:numCache>
                <c:formatCode>0.00</c:formatCode>
                <c:ptCount val="24"/>
                <c:pt idx="0">
                  <c:v>25.571428571428573</c:v>
                </c:pt>
                <c:pt idx="1">
                  <c:v>21.428571428571427</c:v>
                </c:pt>
                <c:pt idx="2">
                  <c:v>16.857142857142858</c:v>
                </c:pt>
                <c:pt idx="3">
                  <c:v>9.1428571428571423</c:v>
                </c:pt>
                <c:pt idx="4">
                  <c:v>3.5714285714285716</c:v>
                </c:pt>
                <c:pt idx="5">
                  <c:v>3.4</c:v>
                </c:pt>
                <c:pt idx="6">
                  <c:v>2.4285714285714284</c:v>
                </c:pt>
                <c:pt idx="7">
                  <c:v>7.1428571428571432</c:v>
                </c:pt>
                <c:pt idx="8">
                  <c:v>21</c:v>
                </c:pt>
                <c:pt idx="9">
                  <c:v>29.142857142857142</c:v>
                </c:pt>
                <c:pt idx="10">
                  <c:v>54.571428571428569</c:v>
                </c:pt>
                <c:pt idx="11">
                  <c:v>68.285714285714292</c:v>
                </c:pt>
                <c:pt idx="12">
                  <c:v>84.428571428571431</c:v>
                </c:pt>
                <c:pt idx="13">
                  <c:v>93.285714285714292</c:v>
                </c:pt>
                <c:pt idx="14">
                  <c:v>95.428571428571431</c:v>
                </c:pt>
                <c:pt idx="15">
                  <c:v>110</c:v>
                </c:pt>
                <c:pt idx="16">
                  <c:v>100.42857142857143</c:v>
                </c:pt>
                <c:pt idx="17">
                  <c:v>84.571428571428569</c:v>
                </c:pt>
                <c:pt idx="18">
                  <c:v>63.285714285714285</c:v>
                </c:pt>
                <c:pt idx="19">
                  <c:v>54.714285714285715</c:v>
                </c:pt>
                <c:pt idx="20">
                  <c:v>43.142857142857146</c:v>
                </c:pt>
                <c:pt idx="21">
                  <c:v>44.285714285714285</c:v>
                </c:pt>
                <c:pt idx="22">
                  <c:v>34.285714285714285</c:v>
                </c:pt>
                <c:pt idx="23">
                  <c:v>37.428571428571431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8960-410E-B88C-236ADBECC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8561552"/>
        <c:axId val="488565712"/>
      </c:areaChart>
      <c:catAx>
        <c:axId val="4885615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 OF THE DAY</a:t>
                </a:r>
              </a:p>
            </c:rich>
          </c:tx>
          <c:layout>
            <c:manualLayout>
              <c:xMode val="edge"/>
              <c:yMode val="edge"/>
              <c:x val="0.36907274271875429"/>
              <c:y val="0.8797010790317877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565712"/>
        <c:crosses val="autoZero"/>
        <c:auto val="1"/>
        <c:lblAlgn val="ctr"/>
        <c:lblOffset val="100"/>
        <c:noMultiLvlLbl val="0"/>
      </c:catAx>
      <c:valAx>
        <c:axId val="488565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AVERAGE OF RENTALS</a:t>
                </a:r>
              </a:p>
            </c:rich>
          </c:tx>
          <c:layout>
            <c:manualLayout>
              <c:xMode val="edge"/>
              <c:yMode val="edge"/>
              <c:x val="7.1546212793924341E-2"/>
              <c:y val="0.325162463732905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5615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[final_data_set (Recovered).xlsx]PIVOT TABLE 4!PivotTable2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Impact of temp on rentals</a:t>
            </a:r>
            <a:endParaRPr lang="en-US" dirty="0"/>
          </a:p>
        </c:rich>
      </c:tx>
      <c:layout>
        <c:manualLayout>
          <c:xMode val="edge"/>
          <c:yMode val="edge"/>
          <c:x val="0.13070967741935485"/>
          <c:y val="9.10059516638369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  <c:spPr>
          <a:solidFill>
            <a:schemeClr val="accent1">
              <a:alpha val="88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flat">
            <a:contourClr>
              <a:schemeClr val="accent1">
                <a:lumMod val="50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rgbClr val="5B9BD5">
                <a:alpha val="30000"/>
              </a:srgbClr>
            </a:solidFill>
            <a:ln>
              <a:solidFill>
                <a:sysClr val="window" lastClr="FFFFFF">
                  <a:alpha val="50000"/>
                </a:sysClr>
              </a:solidFill>
              <a:round/>
            </a:ln>
            <a:effectLst>
              <a:outerShdw blurRad="63500" dist="889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8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flat">
            <a:contourClr>
              <a:schemeClr val="accent1">
                <a:lumMod val="50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rgbClr val="5B9BD5">
                <a:alpha val="30000"/>
              </a:srgbClr>
            </a:solidFill>
            <a:ln>
              <a:solidFill>
                <a:sysClr val="window" lastClr="FFFFFF">
                  <a:alpha val="50000"/>
                </a:sysClr>
              </a:solidFill>
              <a:round/>
            </a:ln>
            <a:effectLst>
              <a:outerShdw blurRad="63500" dist="889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8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flat">
            <a:contourClr>
              <a:schemeClr val="accent1">
                <a:lumMod val="50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rgbClr val="5B9BD5">
                <a:alpha val="30000"/>
              </a:srgbClr>
            </a:solidFill>
            <a:ln>
              <a:solidFill>
                <a:sysClr val="window" lastClr="FFFFFF">
                  <a:alpha val="50000"/>
                </a:sysClr>
              </a:solidFill>
              <a:round/>
            </a:ln>
            <a:effectLst>
              <a:outerShdw blurRad="63500" dist="889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solidFill>
          <a:schemeClr val="bg2">
            <a:lumMod val="75000"/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'PIVOT TABLE 4'!$B$3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rgbClr val="5B9BD5">
                  <a:alpha val="30000"/>
                </a:srgbClr>
              </a:solidFill>
              <a:ln>
                <a:solidFill>
                  <a:sysClr val="window" lastClr="FFFFFF">
                    <a:alpha val="50000"/>
                  </a:sys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4'!$A$4:$A$11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'PIVOT TABLE 4'!$B$4:$B$11</c:f>
              <c:numCache>
                <c:formatCode>0.00</c:formatCode>
                <c:ptCount val="7"/>
                <c:pt idx="0">
                  <c:v>0.23524390243902446</c:v>
                </c:pt>
                <c:pt idx="1">
                  <c:v>0.18818791946308716</c:v>
                </c:pt>
                <c:pt idx="2">
                  <c:v>0.20299212598425193</c:v>
                </c:pt>
                <c:pt idx="3">
                  <c:v>0.21801526717557226</c:v>
                </c:pt>
                <c:pt idx="4">
                  <c:v>0.19296000000000002</c:v>
                </c:pt>
                <c:pt idx="5">
                  <c:v>0.18971014492753613</c:v>
                </c:pt>
                <c:pt idx="6">
                  <c:v>0.20867469879518055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CA-4C9F-8B03-C520693796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gapDepth val="53"/>
        <c:shape val="box"/>
        <c:axId val="1838007712"/>
        <c:axId val="1838022272"/>
        <c:axId val="1134483952"/>
      </c:bar3DChart>
      <c:catAx>
        <c:axId val="18380077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WEEK DAYS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8022272"/>
        <c:crosses val="autoZero"/>
        <c:auto val="1"/>
        <c:lblAlgn val="ctr"/>
        <c:lblOffset val="100"/>
        <c:noMultiLvlLbl val="0"/>
      </c:catAx>
      <c:valAx>
        <c:axId val="1838022272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  OF TEMP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out"/>
        <c:minorTickMark val="none"/>
        <c:tickLblPos val="nextTo"/>
        <c:crossAx val="1838007712"/>
        <c:crosses val="autoZero"/>
        <c:crossBetween val="between"/>
      </c:valAx>
      <c:serAx>
        <c:axId val="11344839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8022272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6350" cap="flat" cmpd="sng" algn="ctr">
      <a:solidFill>
        <a:schemeClr val="dk1">
          <a:tint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[final_data_set (Recovered).xlsx]Pivot table 6!PivotTable1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Temp vs Rentals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>
                <a:lumMod val="75000"/>
              </a:schemeClr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>
                <a:lumMod val="75000"/>
              </a:schemeClr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</c:marker>
      </c:pivotFmt>
      <c:pivotFmt>
        <c:idx val="3"/>
        <c:spPr>
          <a:gradFill rotWithShape="1">
            <a:gsLst>
              <a:gs pos="0">
                <a:schemeClr val="accent1">
                  <a:tint val="96000"/>
                  <a:lumMod val="102000"/>
                </a:schemeClr>
              </a:gs>
              <a:gs pos="100000">
                <a:schemeClr val="accent1">
                  <a:shade val="88000"/>
                  <a:lumMod val="94000"/>
                </a:schemeClr>
              </a:gs>
            </a:gsLst>
            <a:path path="circle">
              <a:fillToRect l="50000" t="100000" r="100000" b="50000"/>
            </a:path>
          </a:gradFill>
          <a:ln w="34925" cap="rnd">
            <a:solidFill>
              <a:schemeClr val="accent1">
                <a:lumMod val="75000"/>
              </a:schemeClr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 6'!$B$3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>
                    <a:lumMod val="75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25400" h="12700"/>
              </a:sp3d>
            </c:spPr>
          </c:marker>
          <c:cat>
            <c:strRef>
              <c:f>'Pivot table 6'!$A$4:$A$27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'Pivot table 6'!$B$4:$B$27</c:f>
              <c:numCache>
                <c:formatCode>0</c:formatCode>
                <c:ptCount val="23"/>
                <c:pt idx="0">
                  <c:v>16.8</c:v>
                </c:pt>
                <c:pt idx="1">
                  <c:v>27.642857142857142</c:v>
                </c:pt>
                <c:pt idx="2">
                  <c:v>40.533333333333331</c:v>
                </c:pt>
                <c:pt idx="3">
                  <c:v>29.75</c:v>
                </c:pt>
                <c:pt idx="4">
                  <c:v>39.34375</c:v>
                </c:pt>
                <c:pt idx="5">
                  <c:v>47.81818181818182</c:v>
                </c:pt>
                <c:pt idx="6">
                  <c:v>48.707865168539328</c:v>
                </c:pt>
                <c:pt idx="7">
                  <c:v>53.869230769230768</c:v>
                </c:pt>
                <c:pt idx="8">
                  <c:v>51.202531645569621</c:v>
                </c:pt>
                <c:pt idx="9">
                  <c:v>60.045454545454547</c:v>
                </c:pt>
                <c:pt idx="10">
                  <c:v>53.029411764705884</c:v>
                </c:pt>
                <c:pt idx="11">
                  <c:v>69.360465116279073</c:v>
                </c:pt>
                <c:pt idx="12">
                  <c:v>56.375</c:v>
                </c:pt>
                <c:pt idx="13">
                  <c:v>72.518518518518519</c:v>
                </c:pt>
                <c:pt idx="14">
                  <c:v>95.972972972972968</c:v>
                </c:pt>
                <c:pt idx="15">
                  <c:v>81.916666666666671</c:v>
                </c:pt>
                <c:pt idx="16">
                  <c:v>123.9</c:v>
                </c:pt>
                <c:pt idx="17">
                  <c:v>89.4</c:v>
                </c:pt>
                <c:pt idx="18">
                  <c:v>57.888888888888886</c:v>
                </c:pt>
                <c:pt idx="19">
                  <c:v>61.5625</c:v>
                </c:pt>
                <c:pt idx="20">
                  <c:v>64.875</c:v>
                </c:pt>
                <c:pt idx="21">
                  <c:v>64.666666666666671</c:v>
                </c:pt>
                <c:pt idx="22">
                  <c:v>44.166666666666664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3C-4BED-A155-E7491B0FF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8238768"/>
        <c:axId val="1048242096"/>
      </c:lineChart>
      <c:catAx>
        <c:axId val="1048238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Temperature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242096"/>
        <c:crosses val="autoZero"/>
        <c:auto val="1"/>
        <c:lblAlgn val="ctr"/>
        <c:lblOffset val="100"/>
        <c:noMultiLvlLbl val="0"/>
      </c:catAx>
      <c:valAx>
        <c:axId val="104824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count of rental bikes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8238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[final_data_set (Recovered).xlsx]PIVOT TABLE1!PivotTable1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</a:rPr>
              <a:t>'Rentals' by 'week name' and 'weather condition'</a:t>
            </a:r>
            <a:endParaRPr lang="en-US">
              <a:effectLst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" lastClr="FFFFFF">
                    <a:lumMod val="95000"/>
                  </a:sysClr>
                </a:solidFill>
              </a:defRPr>
            </a:pPr>
            <a:endParaRPr lang="en-US"/>
          </a:p>
        </c:rich>
      </c:tx>
      <c:layout>
        <c:manualLayout>
          <c:xMode val="edge"/>
          <c:yMode val="edge"/>
          <c:x val="0.1953997252536415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spc="100" baseline="0">
              <a:solidFill>
                <a:sysClr val="window" lastClr="FFFFFF">
                  <a:lumMod val="95000"/>
                </a:sys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TABLE1'!$B$3:$B$4</c:f>
              <c:strCache>
                <c:ptCount val="1"/>
                <c:pt idx="0">
                  <c:v>extreme weather condition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'PIVOT TABLE1'!$A$5:$A$12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'PIVOT TABLE1'!$B$5:$B$12</c:f>
              <c:numCache>
                <c:formatCode>General</c:formatCode>
                <c:ptCount val="7"/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55-47EA-B7BA-B64034F9A3B8}"/>
            </c:ext>
          </c:extLst>
        </c:ser>
        <c:ser>
          <c:idx val="1"/>
          <c:order val="1"/>
          <c:tx>
            <c:strRef>
              <c:f>'PIVOT TABLE1'!$C$3:$C$4</c:f>
              <c:strCache>
                <c:ptCount val="1"/>
                <c:pt idx="0">
                  <c:v>heavy rain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2000"/>
                  </a:schemeClr>
                </a:gs>
                <a:gs pos="100000">
                  <a:schemeClr val="accent2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'PIVOT TABLE1'!$A$5:$A$12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'PIVOT TABLE1'!$C$5:$C$12</c:f>
              <c:numCache>
                <c:formatCode>General</c:formatCode>
                <c:ptCount val="7"/>
                <c:pt idx="0">
                  <c:v>219</c:v>
                </c:pt>
                <c:pt idx="1">
                  <c:v>271</c:v>
                </c:pt>
                <c:pt idx="2">
                  <c:v>475</c:v>
                </c:pt>
                <c:pt idx="3">
                  <c:v>951</c:v>
                </c:pt>
                <c:pt idx="4">
                  <c:v>26</c:v>
                </c:pt>
                <c:pt idx="5">
                  <c:v>286</c:v>
                </c:pt>
                <c:pt idx="6">
                  <c:v>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55-47EA-B7BA-B64034F9A3B8}"/>
            </c:ext>
          </c:extLst>
        </c:ser>
        <c:ser>
          <c:idx val="2"/>
          <c:order val="2"/>
          <c:tx>
            <c:strRef>
              <c:f>'PIVOT TABLE1'!$D$3:$D$4</c:f>
              <c:strCache>
                <c:ptCount val="1"/>
                <c:pt idx="0">
                  <c:v>light rain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2000"/>
                  </a:schemeClr>
                </a:gs>
                <a:gs pos="100000">
                  <a:schemeClr val="accent3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'PIVOT TABLE1'!$A$5:$A$12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'PIVOT TABLE1'!$D$5:$D$12</c:f>
              <c:numCache>
                <c:formatCode>General</c:formatCode>
                <c:ptCount val="7"/>
                <c:pt idx="0">
                  <c:v>1241</c:v>
                </c:pt>
                <c:pt idx="1">
                  <c:v>3975</c:v>
                </c:pt>
                <c:pt idx="2">
                  <c:v>4315</c:v>
                </c:pt>
                <c:pt idx="3">
                  <c:v>1606</c:v>
                </c:pt>
                <c:pt idx="4">
                  <c:v>1794</c:v>
                </c:pt>
                <c:pt idx="5">
                  <c:v>2636</c:v>
                </c:pt>
                <c:pt idx="6">
                  <c:v>2539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55-47EA-B7BA-B64034F9A3B8}"/>
            </c:ext>
          </c:extLst>
        </c:ser>
        <c:ser>
          <c:idx val="3"/>
          <c:order val="3"/>
          <c:tx>
            <c:strRef>
              <c:f>'PIVOT TABLE1'!$E$3:$E$4</c:f>
              <c:strCache>
                <c:ptCount val="1"/>
                <c:pt idx="0">
                  <c:v>mist/cloudy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2000"/>
                  </a:schemeClr>
                </a:gs>
                <a:gs pos="100000">
                  <a:schemeClr val="accent4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'PIVOT TABLE1'!$A$5:$A$12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'PIVOT TABLE1'!$E$5:$E$12</c:f>
              <c:numCache>
                <c:formatCode>General</c:formatCode>
                <c:ptCount val="7"/>
                <c:pt idx="0">
                  <c:v>6661</c:v>
                </c:pt>
                <c:pt idx="1">
                  <c:v>4204</c:v>
                </c:pt>
                <c:pt idx="2">
                  <c:v>3593</c:v>
                </c:pt>
                <c:pt idx="3">
                  <c:v>5456</c:v>
                </c:pt>
                <c:pt idx="4">
                  <c:v>6638</c:v>
                </c:pt>
                <c:pt idx="5">
                  <c:v>6173</c:v>
                </c:pt>
                <c:pt idx="6">
                  <c:v>4648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C55-47EA-B7BA-B64034F9A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47657247"/>
        <c:axId val="1947661407"/>
      </c:barChart>
      <c:catAx>
        <c:axId val="19476572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week</a:t>
                </a:r>
                <a:r>
                  <a:rPr lang="en-US" baseline="0"/>
                  <a:t> name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661407"/>
        <c:crosses val="autoZero"/>
        <c:auto val="1"/>
        <c:lblAlgn val="ctr"/>
        <c:lblOffset val="100"/>
        <c:noMultiLvlLbl val="0"/>
      </c:catAx>
      <c:valAx>
        <c:axId val="194766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Rental</a:t>
                </a:r>
                <a:r>
                  <a:rPr lang="en-US" baseline="0"/>
                  <a:t> counts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7657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18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FB221-ADFF-4E70-8A8D-17BFE7AE659C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0C777D-BF10-44C3-9D45-BFCC1147EF88}">
      <dgm:prSet phldrT="[Text]"/>
      <dgm:spPr/>
      <dgm:t>
        <a:bodyPr/>
        <a:lstStyle/>
        <a:p>
          <a:r>
            <a:rPr lang="en-US" b="1" dirty="0" smtClean="0"/>
            <a:t>Sample Size:</a:t>
          </a:r>
          <a:r>
            <a:rPr lang="en-US" dirty="0" smtClean="0"/>
            <a:t> </a:t>
          </a:r>
          <a:endParaRPr lang="en-US" dirty="0"/>
        </a:p>
      </dgm:t>
    </dgm:pt>
    <dgm:pt modelId="{ACBE7127-BB60-4B62-8ABB-9AE774071D69}" type="parTrans" cxnId="{A75C582C-B5ED-475B-9D67-A571AAD18D7E}">
      <dgm:prSet/>
      <dgm:spPr/>
      <dgm:t>
        <a:bodyPr/>
        <a:lstStyle/>
        <a:p>
          <a:endParaRPr lang="en-US"/>
        </a:p>
      </dgm:t>
    </dgm:pt>
    <dgm:pt modelId="{EB2CD1BA-D3BF-46B4-9CC7-911DE99C3A81}" type="sibTrans" cxnId="{A75C582C-B5ED-475B-9D67-A571AAD18D7E}">
      <dgm:prSet/>
      <dgm:spPr/>
      <dgm:t>
        <a:bodyPr/>
        <a:lstStyle/>
        <a:p>
          <a:endParaRPr lang="en-US"/>
        </a:p>
      </dgm:t>
    </dgm:pt>
    <dgm:pt modelId="{51AC339B-3024-47D6-9094-07C0E174D8BF}">
      <dgm:prSet phldrT="[Text]"/>
      <dgm:spPr/>
      <dgm:t>
        <a:bodyPr/>
        <a:lstStyle/>
        <a:p>
          <a:r>
            <a:rPr lang="en-US" dirty="0" smtClean="0"/>
            <a:t>1,000 Hourly Records.</a:t>
          </a:r>
          <a:endParaRPr lang="en-US" dirty="0"/>
        </a:p>
      </dgm:t>
    </dgm:pt>
    <dgm:pt modelId="{428B6B90-9D54-46A5-B5A0-2EC7E4F8E5FF}" type="parTrans" cxnId="{F7C60F72-D6FD-4799-A388-B09619F43A0A}">
      <dgm:prSet/>
      <dgm:spPr/>
      <dgm:t>
        <a:bodyPr/>
        <a:lstStyle/>
        <a:p>
          <a:endParaRPr lang="en-US"/>
        </a:p>
      </dgm:t>
    </dgm:pt>
    <dgm:pt modelId="{8741A6D7-577F-4F6F-940A-878368E3558D}" type="sibTrans" cxnId="{F7C60F72-D6FD-4799-A388-B09619F43A0A}">
      <dgm:prSet/>
      <dgm:spPr/>
      <dgm:t>
        <a:bodyPr/>
        <a:lstStyle/>
        <a:p>
          <a:endParaRPr lang="en-US"/>
        </a:p>
      </dgm:t>
    </dgm:pt>
    <dgm:pt modelId="{8EFE7B16-13A0-4F19-AE45-435E1329F895}">
      <dgm:prSet phldrT="[Text]"/>
      <dgm:spPr/>
      <dgm:t>
        <a:bodyPr/>
        <a:lstStyle/>
        <a:p>
          <a:r>
            <a:rPr lang="en-US" b="1" dirty="0" smtClean="0"/>
            <a:t>Total Rentals:</a:t>
          </a:r>
          <a:r>
            <a:rPr lang="en-US" dirty="0" smtClean="0"/>
            <a:t> </a:t>
          </a:r>
          <a:endParaRPr lang="en-US" dirty="0"/>
        </a:p>
      </dgm:t>
    </dgm:pt>
    <dgm:pt modelId="{6CB2B38E-7914-4195-954E-FC311BFCB77B}" type="parTrans" cxnId="{78E425A4-F028-4A85-9D09-2A0D6C701A61}">
      <dgm:prSet/>
      <dgm:spPr/>
      <dgm:t>
        <a:bodyPr/>
        <a:lstStyle/>
        <a:p>
          <a:endParaRPr lang="en-US"/>
        </a:p>
      </dgm:t>
    </dgm:pt>
    <dgm:pt modelId="{019B62D1-042B-4C80-BFA0-E297AB997159}" type="sibTrans" cxnId="{78E425A4-F028-4A85-9D09-2A0D6C701A61}">
      <dgm:prSet/>
      <dgm:spPr/>
      <dgm:t>
        <a:bodyPr/>
        <a:lstStyle/>
        <a:p>
          <a:endParaRPr lang="en-US"/>
        </a:p>
      </dgm:t>
    </dgm:pt>
    <dgm:pt modelId="{58F25EEF-51D9-4523-94E0-0CBC4168C832}">
      <dgm:prSet phldrT="[Text]"/>
      <dgm:spPr/>
      <dgm:t>
        <a:bodyPr/>
        <a:lstStyle/>
        <a:p>
          <a:r>
            <a:rPr lang="en-US" dirty="0" smtClean="0"/>
            <a:t>58,304.</a:t>
          </a:r>
          <a:endParaRPr lang="en-US" dirty="0"/>
        </a:p>
      </dgm:t>
    </dgm:pt>
    <dgm:pt modelId="{9DAC74ED-BB08-4E78-A145-A54C44E4918D}" type="parTrans" cxnId="{9015A7D2-63B1-4932-806A-28CFAB482B92}">
      <dgm:prSet/>
      <dgm:spPr/>
      <dgm:t>
        <a:bodyPr/>
        <a:lstStyle/>
        <a:p>
          <a:endParaRPr lang="en-US"/>
        </a:p>
      </dgm:t>
    </dgm:pt>
    <dgm:pt modelId="{70EA6F64-5C40-4EFB-BD0D-A81860869014}" type="sibTrans" cxnId="{9015A7D2-63B1-4932-806A-28CFAB482B92}">
      <dgm:prSet/>
      <dgm:spPr/>
      <dgm:t>
        <a:bodyPr/>
        <a:lstStyle/>
        <a:p>
          <a:endParaRPr lang="en-US"/>
        </a:p>
      </dgm:t>
    </dgm:pt>
    <dgm:pt modelId="{C3B94D4B-5A58-4141-9A54-C7248896A507}">
      <dgm:prSet phldrT="[Text]"/>
      <dgm:spPr/>
      <dgm:t>
        <a:bodyPr/>
        <a:lstStyle/>
        <a:p>
          <a:r>
            <a:rPr lang="en-US" b="1" dirty="0" smtClean="0"/>
            <a:t>Average Hourly Rentals</a:t>
          </a:r>
          <a:endParaRPr lang="en-US" dirty="0"/>
        </a:p>
      </dgm:t>
    </dgm:pt>
    <dgm:pt modelId="{F15DC7D9-35F8-4314-8449-88A77B2C9EE3}" type="parTrans" cxnId="{01282FAD-D408-4899-9C4B-95890A624485}">
      <dgm:prSet/>
      <dgm:spPr/>
      <dgm:t>
        <a:bodyPr/>
        <a:lstStyle/>
        <a:p>
          <a:endParaRPr lang="en-US"/>
        </a:p>
      </dgm:t>
    </dgm:pt>
    <dgm:pt modelId="{95886FD2-66C5-409D-A717-10FAF9AE792E}" type="sibTrans" cxnId="{01282FAD-D408-4899-9C4B-95890A624485}">
      <dgm:prSet/>
      <dgm:spPr/>
      <dgm:t>
        <a:bodyPr/>
        <a:lstStyle/>
        <a:p>
          <a:endParaRPr lang="en-US"/>
        </a:p>
      </dgm:t>
    </dgm:pt>
    <dgm:pt modelId="{526D9002-E4CB-43B1-B73F-458A00A637CE}">
      <dgm:prSet phldrT="[Text]"/>
      <dgm:spPr/>
      <dgm:t>
        <a:bodyPr/>
        <a:lstStyle/>
        <a:p>
          <a:r>
            <a:rPr lang="en-US" dirty="0" smtClean="0"/>
            <a:t>58</a:t>
          </a:r>
          <a:endParaRPr lang="en-US" dirty="0"/>
        </a:p>
      </dgm:t>
    </dgm:pt>
    <dgm:pt modelId="{4ECB844E-83E7-497F-B660-11350F49833E}" type="parTrans" cxnId="{46238604-AA67-4D87-9C9D-61F00346B7EB}">
      <dgm:prSet/>
      <dgm:spPr/>
      <dgm:t>
        <a:bodyPr/>
        <a:lstStyle/>
        <a:p>
          <a:endParaRPr lang="en-US"/>
        </a:p>
      </dgm:t>
    </dgm:pt>
    <dgm:pt modelId="{8792F4DC-C186-4966-923B-FAC581D42DB5}" type="sibTrans" cxnId="{46238604-AA67-4D87-9C9D-61F00346B7EB}">
      <dgm:prSet/>
      <dgm:spPr/>
      <dgm:t>
        <a:bodyPr/>
        <a:lstStyle/>
        <a:p>
          <a:endParaRPr lang="en-US"/>
        </a:p>
      </dgm:t>
    </dgm:pt>
    <dgm:pt modelId="{DD4630C6-4CEB-4D2D-AA98-2E036C46FC07}">
      <dgm:prSet phldrT="[Text]"/>
      <dgm:spPr/>
      <dgm:t>
        <a:bodyPr/>
        <a:lstStyle/>
        <a:p>
          <a:r>
            <a:rPr lang="en-US" b="1" dirty="0" smtClean="0"/>
            <a:t>Max Load:</a:t>
          </a:r>
          <a:r>
            <a:rPr lang="en-US" dirty="0" smtClean="0"/>
            <a:t> </a:t>
          </a:r>
          <a:endParaRPr lang="en-US" dirty="0"/>
        </a:p>
      </dgm:t>
    </dgm:pt>
    <dgm:pt modelId="{9283FA09-F550-434A-AB45-89C744539936}" type="parTrans" cxnId="{4700BD7C-52C4-417E-8369-E1C645961FD2}">
      <dgm:prSet/>
      <dgm:spPr/>
      <dgm:t>
        <a:bodyPr/>
        <a:lstStyle/>
        <a:p>
          <a:endParaRPr lang="en-US"/>
        </a:p>
      </dgm:t>
    </dgm:pt>
    <dgm:pt modelId="{2C87EBAA-2BA5-4B1C-AF36-5822EACAF237}" type="sibTrans" cxnId="{4700BD7C-52C4-417E-8369-E1C645961FD2}">
      <dgm:prSet/>
      <dgm:spPr/>
      <dgm:t>
        <a:bodyPr/>
        <a:lstStyle/>
        <a:p>
          <a:endParaRPr lang="en-US"/>
        </a:p>
      </dgm:t>
    </dgm:pt>
    <dgm:pt modelId="{CD54C80B-70AF-4932-AEA7-1F3AFCB36CA0}">
      <dgm:prSet phldrT="[Text]"/>
      <dgm:spPr/>
      <dgm:t>
        <a:bodyPr/>
        <a:lstStyle/>
        <a:p>
          <a:r>
            <a:rPr lang="en-US" dirty="0" smtClean="0"/>
            <a:t>249 Bikes (Peak).</a:t>
          </a:r>
          <a:endParaRPr lang="en-US" dirty="0"/>
        </a:p>
      </dgm:t>
    </dgm:pt>
    <dgm:pt modelId="{BF713840-A47C-4F12-95CF-F5B3A36D1EDF}" type="parTrans" cxnId="{DBEAEE66-D73D-4AD9-8888-A6F0F5C4936E}">
      <dgm:prSet/>
      <dgm:spPr/>
      <dgm:t>
        <a:bodyPr/>
        <a:lstStyle/>
        <a:p>
          <a:endParaRPr lang="en-US"/>
        </a:p>
      </dgm:t>
    </dgm:pt>
    <dgm:pt modelId="{F55A293F-9103-4EF1-918D-44E93EA9A0B5}" type="sibTrans" cxnId="{DBEAEE66-D73D-4AD9-8888-A6F0F5C4936E}">
      <dgm:prSet/>
      <dgm:spPr/>
      <dgm:t>
        <a:bodyPr/>
        <a:lstStyle/>
        <a:p>
          <a:endParaRPr lang="en-US"/>
        </a:p>
      </dgm:t>
    </dgm:pt>
    <dgm:pt modelId="{2A04BC5B-283A-40D5-AF0A-E6C02D21C1D0}" type="pres">
      <dgm:prSet presAssocID="{6AFFB221-ADFF-4E70-8A8D-17BFE7AE659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393561-B7BC-4F5D-82CC-4C99CA6C14A7}" type="pres">
      <dgm:prSet presAssocID="{140C777D-BF10-44C3-9D45-BFCC1147EF8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E8EF01-0AD9-41B2-9103-D79693AA8C25}" type="pres">
      <dgm:prSet presAssocID="{140C777D-BF10-44C3-9D45-BFCC1147EF88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796859-A779-4CCB-85EB-E45C57243E66}" type="pres">
      <dgm:prSet presAssocID="{8EFE7B16-13A0-4F19-AE45-435E1329F89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5119F2-0616-462F-85A6-72ACBA21A2FF}" type="pres">
      <dgm:prSet presAssocID="{8EFE7B16-13A0-4F19-AE45-435E1329F895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23AC2A-2894-4505-8BFC-01E71FE48FD4}" type="pres">
      <dgm:prSet presAssocID="{C3B94D4B-5A58-4141-9A54-C7248896A50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209D7D-E1E8-4E21-927A-8746FB12D6D2}" type="pres">
      <dgm:prSet presAssocID="{C3B94D4B-5A58-4141-9A54-C7248896A507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70DC0B-E243-4931-B118-173D1E833717}" type="pres">
      <dgm:prSet presAssocID="{DD4630C6-4CEB-4D2D-AA98-2E036C46FC0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43F964-213C-4D23-885F-72C344D99ACC}" type="pres">
      <dgm:prSet presAssocID="{DD4630C6-4CEB-4D2D-AA98-2E036C46FC07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015A7D2-63B1-4932-806A-28CFAB482B92}" srcId="{8EFE7B16-13A0-4F19-AE45-435E1329F895}" destId="{58F25EEF-51D9-4523-94E0-0CBC4168C832}" srcOrd="0" destOrd="0" parTransId="{9DAC74ED-BB08-4E78-A145-A54C44E4918D}" sibTransId="{70EA6F64-5C40-4EFB-BD0D-A81860869014}"/>
    <dgm:cxn modelId="{A73F56B4-35AD-4CD5-AE31-F00FB2E023D3}" type="presOf" srcId="{CD54C80B-70AF-4932-AEA7-1F3AFCB36CA0}" destId="{B643F964-213C-4D23-885F-72C344D99ACC}" srcOrd="0" destOrd="0" presId="urn:microsoft.com/office/officeart/2005/8/layout/vList2"/>
    <dgm:cxn modelId="{CA696291-2D6D-40B5-9334-C8BB7883E645}" type="presOf" srcId="{6AFFB221-ADFF-4E70-8A8D-17BFE7AE659C}" destId="{2A04BC5B-283A-40D5-AF0A-E6C02D21C1D0}" srcOrd="0" destOrd="0" presId="urn:microsoft.com/office/officeart/2005/8/layout/vList2"/>
    <dgm:cxn modelId="{0F494F14-AF9A-4852-A725-7B19E28D5B69}" type="presOf" srcId="{DD4630C6-4CEB-4D2D-AA98-2E036C46FC07}" destId="{D970DC0B-E243-4931-B118-173D1E833717}" srcOrd="0" destOrd="0" presId="urn:microsoft.com/office/officeart/2005/8/layout/vList2"/>
    <dgm:cxn modelId="{28F6171A-32BC-452E-8143-CA04920D7E24}" type="presOf" srcId="{526D9002-E4CB-43B1-B73F-458A00A637CE}" destId="{8D209D7D-E1E8-4E21-927A-8746FB12D6D2}" srcOrd="0" destOrd="0" presId="urn:microsoft.com/office/officeart/2005/8/layout/vList2"/>
    <dgm:cxn modelId="{F2034A6A-6246-4180-9C8B-A5A5CF5D59B9}" type="presOf" srcId="{51AC339B-3024-47D6-9094-07C0E174D8BF}" destId="{0CE8EF01-0AD9-41B2-9103-D79693AA8C25}" srcOrd="0" destOrd="0" presId="urn:microsoft.com/office/officeart/2005/8/layout/vList2"/>
    <dgm:cxn modelId="{A75C582C-B5ED-475B-9D67-A571AAD18D7E}" srcId="{6AFFB221-ADFF-4E70-8A8D-17BFE7AE659C}" destId="{140C777D-BF10-44C3-9D45-BFCC1147EF88}" srcOrd="0" destOrd="0" parTransId="{ACBE7127-BB60-4B62-8ABB-9AE774071D69}" sibTransId="{EB2CD1BA-D3BF-46B4-9CC7-911DE99C3A81}"/>
    <dgm:cxn modelId="{65B07F7E-7EF0-4D03-8E1D-1E1F7C67571C}" type="presOf" srcId="{140C777D-BF10-44C3-9D45-BFCC1147EF88}" destId="{10393561-B7BC-4F5D-82CC-4C99CA6C14A7}" srcOrd="0" destOrd="0" presId="urn:microsoft.com/office/officeart/2005/8/layout/vList2"/>
    <dgm:cxn modelId="{01282FAD-D408-4899-9C4B-95890A624485}" srcId="{6AFFB221-ADFF-4E70-8A8D-17BFE7AE659C}" destId="{C3B94D4B-5A58-4141-9A54-C7248896A507}" srcOrd="2" destOrd="0" parTransId="{F15DC7D9-35F8-4314-8449-88A77B2C9EE3}" sibTransId="{95886FD2-66C5-409D-A717-10FAF9AE792E}"/>
    <dgm:cxn modelId="{087D0AB2-A3F5-4BDB-A441-827BC6CAAC61}" type="presOf" srcId="{58F25EEF-51D9-4523-94E0-0CBC4168C832}" destId="{025119F2-0616-462F-85A6-72ACBA21A2FF}" srcOrd="0" destOrd="0" presId="urn:microsoft.com/office/officeart/2005/8/layout/vList2"/>
    <dgm:cxn modelId="{4700BD7C-52C4-417E-8369-E1C645961FD2}" srcId="{6AFFB221-ADFF-4E70-8A8D-17BFE7AE659C}" destId="{DD4630C6-4CEB-4D2D-AA98-2E036C46FC07}" srcOrd="3" destOrd="0" parTransId="{9283FA09-F550-434A-AB45-89C744539936}" sibTransId="{2C87EBAA-2BA5-4B1C-AF36-5822EACAF237}"/>
    <dgm:cxn modelId="{78E425A4-F028-4A85-9D09-2A0D6C701A61}" srcId="{6AFFB221-ADFF-4E70-8A8D-17BFE7AE659C}" destId="{8EFE7B16-13A0-4F19-AE45-435E1329F895}" srcOrd="1" destOrd="0" parTransId="{6CB2B38E-7914-4195-954E-FC311BFCB77B}" sibTransId="{019B62D1-042B-4C80-BFA0-E297AB997159}"/>
    <dgm:cxn modelId="{F7C60F72-D6FD-4799-A388-B09619F43A0A}" srcId="{140C777D-BF10-44C3-9D45-BFCC1147EF88}" destId="{51AC339B-3024-47D6-9094-07C0E174D8BF}" srcOrd="0" destOrd="0" parTransId="{428B6B90-9D54-46A5-B5A0-2EC7E4F8E5FF}" sibTransId="{8741A6D7-577F-4F6F-940A-878368E3558D}"/>
    <dgm:cxn modelId="{DBEAEE66-D73D-4AD9-8888-A6F0F5C4936E}" srcId="{DD4630C6-4CEB-4D2D-AA98-2E036C46FC07}" destId="{CD54C80B-70AF-4932-AEA7-1F3AFCB36CA0}" srcOrd="0" destOrd="0" parTransId="{BF713840-A47C-4F12-95CF-F5B3A36D1EDF}" sibTransId="{F55A293F-9103-4EF1-918D-44E93EA9A0B5}"/>
    <dgm:cxn modelId="{F1630E2C-74BF-4FF1-8449-A2B647554A27}" type="presOf" srcId="{8EFE7B16-13A0-4F19-AE45-435E1329F895}" destId="{14796859-A779-4CCB-85EB-E45C57243E66}" srcOrd="0" destOrd="0" presId="urn:microsoft.com/office/officeart/2005/8/layout/vList2"/>
    <dgm:cxn modelId="{5A7BBCFC-E959-490E-AE72-052B7F8A0187}" type="presOf" srcId="{C3B94D4B-5A58-4141-9A54-C7248896A507}" destId="{5B23AC2A-2894-4505-8BFC-01E71FE48FD4}" srcOrd="0" destOrd="0" presId="urn:microsoft.com/office/officeart/2005/8/layout/vList2"/>
    <dgm:cxn modelId="{46238604-AA67-4D87-9C9D-61F00346B7EB}" srcId="{C3B94D4B-5A58-4141-9A54-C7248896A507}" destId="{526D9002-E4CB-43B1-B73F-458A00A637CE}" srcOrd="0" destOrd="0" parTransId="{4ECB844E-83E7-497F-B660-11350F49833E}" sibTransId="{8792F4DC-C186-4966-923B-FAC581D42DB5}"/>
    <dgm:cxn modelId="{9E9AAFB8-0317-47CA-8D47-2E3340A8EA4C}" type="presParOf" srcId="{2A04BC5B-283A-40D5-AF0A-E6C02D21C1D0}" destId="{10393561-B7BC-4F5D-82CC-4C99CA6C14A7}" srcOrd="0" destOrd="0" presId="urn:microsoft.com/office/officeart/2005/8/layout/vList2"/>
    <dgm:cxn modelId="{E9DE1AFC-1721-43FF-8C3E-50A23CEB9869}" type="presParOf" srcId="{2A04BC5B-283A-40D5-AF0A-E6C02D21C1D0}" destId="{0CE8EF01-0AD9-41B2-9103-D79693AA8C25}" srcOrd="1" destOrd="0" presId="urn:microsoft.com/office/officeart/2005/8/layout/vList2"/>
    <dgm:cxn modelId="{04695F34-C448-4527-97DC-60B67998A79D}" type="presParOf" srcId="{2A04BC5B-283A-40D5-AF0A-E6C02D21C1D0}" destId="{14796859-A779-4CCB-85EB-E45C57243E66}" srcOrd="2" destOrd="0" presId="urn:microsoft.com/office/officeart/2005/8/layout/vList2"/>
    <dgm:cxn modelId="{017723E6-2891-4827-8108-E359783923B6}" type="presParOf" srcId="{2A04BC5B-283A-40D5-AF0A-E6C02D21C1D0}" destId="{025119F2-0616-462F-85A6-72ACBA21A2FF}" srcOrd="3" destOrd="0" presId="urn:microsoft.com/office/officeart/2005/8/layout/vList2"/>
    <dgm:cxn modelId="{82CE148E-BC3A-4054-8DBB-BE7021487052}" type="presParOf" srcId="{2A04BC5B-283A-40D5-AF0A-E6C02D21C1D0}" destId="{5B23AC2A-2894-4505-8BFC-01E71FE48FD4}" srcOrd="4" destOrd="0" presId="urn:microsoft.com/office/officeart/2005/8/layout/vList2"/>
    <dgm:cxn modelId="{85E24C6F-6BD5-40D5-AA9E-6CA950F56ABD}" type="presParOf" srcId="{2A04BC5B-283A-40D5-AF0A-E6C02D21C1D0}" destId="{8D209D7D-E1E8-4E21-927A-8746FB12D6D2}" srcOrd="5" destOrd="0" presId="urn:microsoft.com/office/officeart/2005/8/layout/vList2"/>
    <dgm:cxn modelId="{8737F391-BD0C-4AD3-97B0-6418934AB833}" type="presParOf" srcId="{2A04BC5B-283A-40D5-AF0A-E6C02D21C1D0}" destId="{D970DC0B-E243-4931-B118-173D1E833717}" srcOrd="6" destOrd="0" presId="urn:microsoft.com/office/officeart/2005/8/layout/vList2"/>
    <dgm:cxn modelId="{F4ECB6AA-E6BD-46E3-87BA-AD82985C9897}" type="presParOf" srcId="{2A04BC5B-283A-40D5-AF0A-E6C02D21C1D0}" destId="{B643F964-213C-4D23-885F-72C344D99AC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93561-B7BC-4F5D-82CC-4C99CA6C14A7}">
      <dsp:nvSpPr>
        <dsp:cNvPr id="0" name=""/>
        <dsp:cNvSpPr/>
      </dsp:nvSpPr>
      <dsp:spPr>
        <a:xfrm>
          <a:off x="0" y="54288"/>
          <a:ext cx="9786484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Sample Size:</a:t>
          </a:r>
          <a:r>
            <a:rPr lang="en-US" sz="2600" kern="1200" dirty="0" smtClean="0"/>
            <a:t> </a:t>
          </a:r>
          <a:endParaRPr lang="en-US" sz="2600" kern="1200" dirty="0"/>
        </a:p>
      </dsp:txBody>
      <dsp:txXfrm>
        <a:off x="30442" y="84730"/>
        <a:ext cx="9725600" cy="562726"/>
      </dsp:txXfrm>
    </dsp:sp>
    <dsp:sp modelId="{0CE8EF01-0AD9-41B2-9103-D79693AA8C25}">
      <dsp:nvSpPr>
        <dsp:cNvPr id="0" name=""/>
        <dsp:cNvSpPr/>
      </dsp:nvSpPr>
      <dsp:spPr>
        <a:xfrm>
          <a:off x="0" y="677898"/>
          <a:ext cx="9786484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72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1,000 Hourly Records.</a:t>
          </a:r>
          <a:endParaRPr lang="en-US" sz="2000" kern="1200" dirty="0"/>
        </a:p>
      </dsp:txBody>
      <dsp:txXfrm>
        <a:off x="0" y="677898"/>
        <a:ext cx="9786484" cy="430560"/>
      </dsp:txXfrm>
    </dsp:sp>
    <dsp:sp modelId="{14796859-A779-4CCB-85EB-E45C57243E66}">
      <dsp:nvSpPr>
        <dsp:cNvPr id="0" name=""/>
        <dsp:cNvSpPr/>
      </dsp:nvSpPr>
      <dsp:spPr>
        <a:xfrm>
          <a:off x="0" y="1108458"/>
          <a:ext cx="9786484" cy="6236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Total Rentals:</a:t>
          </a:r>
          <a:r>
            <a:rPr lang="en-US" sz="2600" kern="1200" dirty="0" smtClean="0"/>
            <a:t> </a:t>
          </a:r>
          <a:endParaRPr lang="en-US" sz="2600" kern="1200" dirty="0"/>
        </a:p>
      </dsp:txBody>
      <dsp:txXfrm>
        <a:off x="30442" y="1138900"/>
        <a:ext cx="9725600" cy="562726"/>
      </dsp:txXfrm>
    </dsp:sp>
    <dsp:sp modelId="{025119F2-0616-462F-85A6-72ACBA21A2FF}">
      <dsp:nvSpPr>
        <dsp:cNvPr id="0" name=""/>
        <dsp:cNvSpPr/>
      </dsp:nvSpPr>
      <dsp:spPr>
        <a:xfrm>
          <a:off x="0" y="1732068"/>
          <a:ext cx="9786484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72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58,304.</a:t>
          </a:r>
          <a:endParaRPr lang="en-US" sz="2000" kern="1200" dirty="0"/>
        </a:p>
      </dsp:txBody>
      <dsp:txXfrm>
        <a:off x="0" y="1732068"/>
        <a:ext cx="9786484" cy="430560"/>
      </dsp:txXfrm>
    </dsp:sp>
    <dsp:sp modelId="{5B23AC2A-2894-4505-8BFC-01E71FE48FD4}">
      <dsp:nvSpPr>
        <dsp:cNvPr id="0" name=""/>
        <dsp:cNvSpPr/>
      </dsp:nvSpPr>
      <dsp:spPr>
        <a:xfrm>
          <a:off x="0" y="2162628"/>
          <a:ext cx="9786484" cy="6236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Average Hourly Rentals</a:t>
          </a:r>
          <a:endParaRPr lang="en-US" sz="2600" kern="1200" dirty="0"/>
        </a:p>
      </dsp:txBody>
      <dsp:txXfrm>
        <a:off x="30442" y="2193070"/>
        <a:ext cx="9725600" cy="562726"/>
      </dsp:txXfrm>
    </dsp:sp>
    <dsp:sp modelId="{8D209D7D-E1E8-4E21-927A-8746FB12D6D2}">
      <dsp:nvSpPr>
        <dsp:cNvPr id="0" name=""/>
        <dsp:cNvSpPr/>
      </dsp:nvSpPr>
      <dsp:spPr>
        <a:xfrm>
          <a:off x="0" y="2786238"/>
          <a:ext cx="9786484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72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58</a:t>
          </a:r>
          <a:endParaRPr lang="en-US" sz="2000" kern="1200" dirty="0"/>
        </a:p>
      </dsp:txBody>
      <dsp:txXfrm>
        <a:off x="0" y="2786238"/>
        <a:ext cx="9786484" cy="430560"/>
      </dsp:txXfrm>
    </dsp:sp>
    <dsp:sp modelId="{D970DC0B-E243-4931-B118-173D1E833717}">
      <dsp:nvSpPr>
        <dsp:cNvPr id="0" name=""/>
        <dsp:cNvSpPr/>
      </dsp:nvSpPr>
      <dsp:spPr>
        <a:xfrm>
          <a:off x="0" y="3216798"/>
          <a:ext cx="9786484" cy="6236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Max Load:</a:t>
          </a:r>
          <a:r>
            <a:rPr lang="en-US" sz="2600" kern="1200" dirty="0" smtClean="0"/>
            <a:t> </a:t>
          </a:r>
          <a:endParaRPr lang="en-US" sz="2600" kern="1200" dirty="0"/>
        </a:p>
      </dsp:txBody>
      <dsp:txXfrm>
        <a:off x="30442" y="3247240"/>
        <a:ext cx="9725600" cy="562726"/>
      </dsp:txXfrm>
    </dsp:sp>
    <dsp:sp modelId="{B643F964-213C-4D23-885F-72C344D99ACC}">
      <dsp:nvSpPr>
        <dsp:cNvPr id="0" name=""/>
        <dsp:cNvSpPr/>
      </dsp:nvSpPr>
      <dsp:spPr>
        <a:xfrm>
          <a:off x="0" y="3840408"/>
          <a:ext cx="9786484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72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 smtClean="0"/>
            <a:t>249 Bikes (Peak).</a:t>
          </a:r>
          <a:endParaRPr lang="en-US" sz="2000" kern="1200" dirty="0"/>
        </a:p>
      </dsp:txBody>
      <dsp:txXfrm>
        <a:off x="0" y="3840408"/>
        <a:ext cx="9786484" cy="430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0502" y="1103086"/>
            <a:ext cx="9112520" cy="1965718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Strategic Analysis of Bike-Sharing Demand (2011)</a:t>
            </a:r>
            <a:endParaRPr 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356187"/>
            <a:ext cx="6987645" cy="1388534"/>
          </a:xfrm>
        </p:spPr>
        <p:txBody>
          <a:bodyPr/>
          <a:lstStyle/>
          <a:p>
            <a:r>
              <a:rPr lang="en-US" i="1" dirty="0"/>
              <a:t>Data </a:t>
            </a:r>
            <a:r>
              <a:rPr lang="en-US" i="1" dirty="0" smtClean="0"/>
              <a:t>Science </a:t>
            </a:r>
            <a:r>
              <a:rPr lang="en-US" i="1" dirty="0"/>
              <a:t>&amp; Operational Insights for Fleet </a:t>
            </a:r>
            <a:r>
              <a:rPr lang="en-US" i="1" dirty="0" smtClean="0"/>
              <a:t>Management</a:t>
            </a:r>
          </a:p>
          <a:p>
            <a:r>
              <a:rPr lang="en-US" i="1" dirty="0" smtClean="0"/>
              <a:t>Presented By- Govind Mishra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46028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Project </a:t>
            </a:r>
            <a:r>
              <a:rPr lang="en-US" b="1" u="sng" dirty="0" smtClean="0"/>
              <a:t>Objectives 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1" y="2438399"/>
            <a:ext cx="7427459" cy="3352801"/>
          </a:xfrm>
        </p:spPr>
        <p:txBody>
          <a:bodyPr>
            <a:normAutofit fontScale="92500"/>
          </a:bodyPr>
          <a:lstStyle/>
          <a:p>
            <a:r>
              <a:rPr lang="en-US" sz="2500" dirty="0"/>
              <a:t>Understand the primary drivers of bike rental demand</a:t>
            </a:r>
            <a:r>
              <a:rPr lang="en-US" sz="2500" dirty="0" smtClean="0"/>
              <a:t>.</a:t>
            </a:r>
          </a:p>
          <a:p>
            <a:r>
              <a:rPr lang="en-US" sz="2500" dirty="0"/>
              <a:t>Analyze the impact of weather and time on user behavior</a:t>
            </a:r>
            <a:r>
              <a:rPr lang="en-US" sz="2500" dirty="0" smtClean="0"/>
              <a:t>.</a:t>
            </a:r>
          </a:p>
          <a:p>
            <a:r>
              <a:rPr lang="en-US" sz="2500" dirty="0"/>
              <a:t>Differentiate between casual and registered user needs</a:t>
            </a:r>
            <a:r>
              <a:rPr lang="en-US" sz="2500" dirty="0" smtClean="0"/>
              <a:t>.</a:t>
            </a:r>
          </a:p>
          <a:p>
            <a:r>
              <a:rPr lang="en-US" sz="2500" dirty="0"/>
              <a:t>Provide actionable recommendations for </a:t>
            </a:r>
            <a:r>
              <a:rPr lang="en-US" sz="2500" dirty="0" smtClean="0"/>
              <a:t>dash boarding</a:t>
            </a:r>
            <a:r>
              <a:rPr lang="en-US" sz="2500" dirty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1469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464457"/>
            <a:ext cx="10018713" cy="1752599"/>
          </a:xfrm>
        </p:spPr>
        <p:txBody>
          <a:bodyPr/>
          <a:lstStyle/>
          <a:p>
            <a:r>
              <a:rPr lang="en-US" b="1" u="sng" dirty="0"/>
              <a:t>Data Summary &amp; Statistics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111101"/>
              </p:ext>
            </p:extLst>
          </p:nvPr>
        </p:nvGraphicFramePr>
        <p:xfrm>
          <a:off x="1716539" y="2017486"/>
          <a:ext cx="9786484" cy="4325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278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479" y="236583"/>
            <a:ext cx="6301151" cy="1038498"/>
          </a:xfrm>
        </p:spPr>
        <p:txBody>
          <a:bodyPr/>
          <a:lstStyle/>
          <a:p>
            <a:pPr algn="l"/>
            <a:r>
              <a:rPr lang="en-US" b="1" u="sng" dirty="0"/>
              <a:t>Key Insights &amp; Correlations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8996" y="1140555"/>
            <a:ext cx="5475289" cy="5166360"/>
          </a:xfrm>
        </p:spPr>
        <p:txBody>
          <a:bodyPr>
            <a:normAutofit/>
          </a:bodyPr>
          <a:lstStyle/>
          <a:p>
            <a:pPr lvl="0"/>
            <a:r>
              <a:rPr lang="en-US" sz="2200" b="1" dirty="0" smtClean="0"/>
              <a:t>Humidity</a:t>
            </a:r>
            <a:r>
              <a:rPr lang="en-US" sz="2200" b="1" dirty="0"/>
              <a:t>:</a:t>
            </a:r>
            <a:r>
              <a:rPr lang="en-US" sz="2200" dirty="0"/>
              <a:t> Negative correlation (-0.25); higher humidity leads to lower demand.</a:t>
            </a:r>
          </a:p>
          <a:p>
            <a:pPr lvl="0"/>
            <a:r>
              <a:rPr lang="en-US" sz="2200" b="1" dirty="0" smtClean="0"/>
              <a:t>Temperature</a:t>
            </a:r>
            <a:r>
              <a:rPr lang="en-US" sz="2200" b="1" dirty="0"/>
              <a:t>:</a:t>
            </a:r>
            <a:r>
              <a:rPr lang="en-US" sz="2200" dirty="0"/>
              <a:t> Positive correlation (+0.23); warmer weather increases bike usage.</a:t>
            </a:r>
          </a:p>
          <a:p>
            <a:pPr lvl="0"/>
            <a:r>
              <a:rPr lang="en-US" sz="2200" b="1" dirty="0" smtClean="0"/>
              <a:t>Timing</a:t>
            </a:r>
            <a:r>
              <a:rPr lang="en-US" sz="2200" b="1" dirty="0"/>
              <a:t>:</a:t>
            </a:r>
            <a:r>
              <a:rPr lang="en-US" sz="2200" dirty="0"/>
              <a:t> Peaks occur at 8 AM and 5 PM on workdays, identifying the service as a primary transit solution for commuters.</a:t>
            </a:r>
          </a:p>
          <a:p>
            <a:pPr lvl="0"/>
            <a:r>
              <a:rPr lang="en-US" sz="2200" b="1" dirty="0" smtClean="0"/>
              <a:t>Weather </a:t>
            </a:r>
            <a:r>
              <a:rPr lang="en-US" sz="2200" b="1" dirty="0"/>
              <a:t>Conditions:</a:t>
            </a:r>
            <a:r>
              <a:rPr lang="en-US" sz="2200" dirty="0"/>
              <a:t> Demand is highest in clear/misty conditions but plummets by 46% during heavy rain</a:t>
            </a:r>
            <a:r>
              <a:rPr lang="en-US" sz="2200" dirty="0" smtClean="0"/>
              <a:t>.</a:t>
            </a:r>
          </a:p>
          <a:p>
            <a:pPr lvl="0"/>
            <a:endParaRPr lang="en-US" sz="2200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285" y="1275080"/>
            <a:ext cx="4958670" cy="22910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25" y="3826604"/>
            <a:ext cx="2066925" cy="221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033" y="320039"/>
            <a:ext cx="6225630" cy="1443446"/>
          </a:xfrm>
        </p:spPr>
        <p:txBody>
          <a:bodyPr/>
          <a:lstStyle/>
          <a:p>
            <a:r>
              <a:rPr lang="en-US" b="1" u="sng" dirty="0"/>
              <a:t>User Type Breakdown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4466" y="1894114"/>
            <a:ext cx="5080025" cy="2403566"/>
          </a:xfrm>
        </p:spPr>
        <p:txBody>
          <a:bodyPr>
            <a:normAutofit fontScale="92500"/>
          </a:bodyPr>
          <a:lstStyle/>
          <a:p>
            <a:pPr lvl="0"/>
            <a:r>
              <a:rPr lang="en-US" b="1" dirty="0"/>
              <a:t>Registered Users:</a:t>
            </a:r>
            <a:r>
              <a:rPr lang="en-US" dirty="0"/>
              <a:t> 53,383 (91.6%) – The core demographic.</a:t>
            </a:r>
          </a:p>
          <a:p>
            <a:pPr lvl="0"/>
            <a:r>
              <a:rPr lang="en-US" b="1" dirty="0"/>
              <a:t>Casual Users:</a:t>
            </a:r>
            <a:r>
              <a:rPr lang="en-US" dirty="0"/>
              <a:t> 4,921 (8.4%) – Leisure/Weekend focused.</a:t>
            </a:r>
          </a:p>
          <a:p>
            <a:r>
              <a:rPr lang="en-US" b="1" dirty="0"/>
              <a:t>Insight:</a:t>
            </a:r>
            <a:r>
              <a:rPr lang="en-US" dirty="0"/>
              <a:t> Member loyalty is high; focus on converting casual users to members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434" y="4580164"/>
            <a:ext cx="3540035" cy="1502229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877945"/>
              </p:ext>
            </p:extLst>
          </p:nvPr>
        </p:nvGraphicFramePr>
        <p:xfrm>
          <a:off x="6879772" y="1565093"/>
          <a:ext cx="4818742" cy="440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517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4846" y="333829"/>
            <a:ext cx="7704183" cy="904602"/>
          </a:xfrm>
        </p:spPr>
        <p:txBody>
          <a:bodyPr>
            <a:normAutofit/>
          </a:bodyPr>
          <a:lstStyle/>
          <a:p>
            <a:r>
              <a:rPr lang="en-US" sz="3500" b="1" u="sng" dirty="0"/>
              <a:t>Hourly Rental Trends (Commute Focus)</a:t>
            </a:r>
            <a:endParaRPr lang="en-US" sz="3500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72319" y="1278708"/>
            <a:ext cx="8547337" cy="2368006"/>
          </a:xfrm>
        </p:spPr>
        <p:txBody>
          <a:bodyPr/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 smtClean="0"/>
              <a:t>Working Days:</a:t>
            </a:r>
            <a:r>
              <a:rPr lang="en-US" sz="2200" dirty="0" smtClean="0"/>
              <a:t> Sharp peaks at 8:00 AM and 5:00 PM.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 smtClean="0"/>
              <a:t>Holidays/Weekends:</a:t>
            </a:r>
            <a:r>
              <a:rPr lang="en-US" sz="2200" dirty="0" smtClean="0"/>
              <a:t> More gradual, bell-shaped distribution peaking at mid-day.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700979" y="2275114"/>
            <a:ext cx="6805748" cy="137160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800" b="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500" b="1" u="sng" dirty="0"/>
              <a:t>Daily Demand Analysis</a:t>
            </a:r>
            <a:endParaRPr lang="en-US" sz="3500" u="sng" dirty="0"/>
          </a:p>
        </p:txBody>
      </p:sp>
      <p:sp>
        <p:nvSpPr>
          <p:cNvPr id="11" name="Text Placeholder 3"/>
          <p:cNvSpPr txBox="1">
            <a:spLocks/>
          </p:cNvSpPr>
          <p:nvPr/>
        </p:nvSpPr>
        <p:spPr>
          <a:xfrm>
            <a:off x="1772320" y="3686991"/>
            <a:ext cx="8416709" cy="2444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 algn="l"/>
            <a:endParaRPr lang="en-US" dirty="0" smtClean="0"/>
          </a:p>
          <a:p>
            <a:pPr lvl="0" algn="l"/>
            <a:endParaRPr lang="en-US" dirty="0" smtClean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dirty="0" smtClean="0"/>
              <a:t>Comparison </a:t>
            </a:r>
            <a:r>
              <a:rPr lang="en-US" sz="2200" dirty="0"/>
              <a:t>of volume across the week (Mon-Sun).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dirty="0"/>
              <a:t>Friday shows the highest average volume (9,095 total for the period).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/>
              <a:t>Working Day Advantage:</a:t>
            </a:r>
            <a:r>
              <a:rPr lang="en-US" sz="2200" dirty="0"/>
              <a:t> +41% volume compared to holidays.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6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914265"/>
              </p:ext>
            </p:extLst>
          </p:nvPr>
        </p:nvGraphicFramePr>
        <p:xfrm>
          <a:off x="6258631" y="183243"/>
          <a:ext cx="5684812" cy="3347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1792793"/>
              </p:ext>
            </p:extLst>
          </p:nvPr>
        </p:nvGraphicFramePr>
        <p:xfrm>
          <a:off x="6258630" y="3788229"/>
          <a:ext cx="5684813" cy="2853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197" y="2817041"/>
            <a:ext cx="1724025" cy="8360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2521" y="3892006"/>
            <a:ext cx="2607378" cy="21173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521" y="296817"/>
            <a:ext cx="2762250" cy="2281283"/>
          </a:xfrm>
          <a:prstGeom prst="rect">
            <a:avLst/>
          </a:prstGeom>
        </p:spPr>
      </p:pic>
      <p:sp>
        <p:nvSpPr>
          <p:cNvPr id="8" name="Up-Down Arrow 7"/>
          <p:cNvSpPr/>
          <p:nvPr/>
        </p:nvSpPr>
        <p:spPr>
          <a:xfrm>
            <a:off x="2514600" y="2578098"/>
            <a:ext cx="114300" cy="2389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-Down Arrow 8"/>
          <p:cNvSpPr/>
          <p:nvPr/>
        </p:nvSpPr>
        <p:spPr>
          <a:xfrm>
            <a:off x="2628900" y="3653063"/>
            <a:ext cx="114300" cy="23894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26" idx="3"/>
          </p:cNvCxnSpPr>
          <p:nvPr/>
        </p:nvCxnSpPr>
        <p:spPr>
          <a:xfrm flipH="1">
            <a:off x="5864582" y="1121028"/>
            <a:ext cx="4498618" cy="16960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5864582" y="2876059"/>
            <a:ext cx="2793999" cy="20746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94582" y="2219637"/>
            <a:ext cx="1270000" cy="11948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HIGHEST</a:t>
            </a:r>
          </a:p>
          <a:p>
            <a:pPr algn="ctr"/>
            <a:r>
              <a:rPr lang="en-US" dirty="0" smtClean="0"/>
              <a:t>AVG  VOLUME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0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300" y="368299"/>
            <a:ext cx="7620000" cy="1333501"/>
          </a:xfrm>
        </p:spPr>
        <p:txBody>
          <a:bodyPr/>
          <a:lstStyle/>
          <a:p>
            <a:r>
              <a:rPr lang="en-US" b="1" u="sng" dirty="0"/>
              <a:t>Environmental Impact </a:t>
            </a:r>
            <a:endParaRPr lang="en-US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8245" y="1790700"/>
            <a:ext cx="4607188" cy="576262"/>
          </a:xfrm>
        </p:spPr>
        <p:txBody>
          <a:bodyPr/>
          <a:lstStyle/>
          <a:p>
            <a:r>
              <a:rPr lang="en-US" b="1" dirty="0"/>
              <a:t>Temperature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6616" y="2455862"/>
            <a:ext cx="4895056" cy="2455862"/>
          </a:xfrm>
        </p:spPr>
        <p:txBody>
          <a:bodyPr/>
          <a:lstStyle/>
          <a:p>
            <a:pPr lvl="0"/>
            <a:r>
              <a:rPr lang="en-US" dirty="0"/>
              <a:t>Positive correlation </a:t>
            </a:r>
            <a:r>
              <a:rPr lang="en-US" b="1" u="sng" dirty="0"/>
              <a:t>(+0.23) </a:t>
            </a:r>
            <a:r>
              <a:rPr lang="en-US" dirty="0"/>
              <a:t>between temperature and rentals.</a:t>
            </a:r>
          </a:p>
          <a:p>
            <a:pPr lvl="0"/>
            <a:r>
              <a:rPr lang="en-US" dirty="0"/>
              <a:t>Usage increases consistently as normalized temperatures rise from </a:t>
            </a:r>
            <a:r>
              <a:rPr lang="en-US" b="1" u="sng" dirty="0"/>
              <a:t>0.1 to 0.4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6" y="1790700"/>
            <a:ext cx="4622537" cy="576262"/>
          </a:xfrm>
        </p:spPr>
        <p:txBody>
          <a:bodyPr/>
          <a:lstStyle/>
          <a:p>
            <a:r>
              <a:rPr lang="en-US" b="1" dirty="0"/>
              <a:t>Humidity &amp; Wind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4299" y="2455862"/>
            <a:ext cx="5292271" cy="2455862"/>
          </a:xfrm>
        </p:spPr>
        <p:txBody>
          <a:bodyPr/>
          <a:lstStyle/>
          <a:p>
            <a:pPr lvl="0"/>
            <a:r>
              <a:rPr lang="en-US" b="1" dirty="0"/>
              <a:t>Humidity:</a:t>
            </a:r>
            <a:r>
              <a:rPr lang="en-US" dirty="0"/>
              <a:t> Strong negative impact </a:t>
            </a:r>
            <a:r>
              <a:rPr lang="en-US" b="1" u="sng" dirty="0"/>
              <a:t>(-0.25 correlation)</a:t>
            </a:r>
            <a:r>
              <a:rPr lang="en-US" dirty="0"/>
              <a:t>. Demand drops significantly above </a:t>
            </a:r>
            <a:r>
              <a:rPr lang="en-US" b="1" u="sng" dirty="0"/>
              <a:t>60%</a:t>
            </a:r>
            <a:r>
              <a:rPr lang="en-US" dirty="0"/>
              <a:t> humidity.</a:t>
            </a:r>
          </a:p>
          <a:p>
            <a:pPr lvl="0"/>
            <a:r>
              <a:rPr lang="en-US" b="1" dirty="0" smtClean="0"/>
              <a:t>Wind speed</a:t>
            </a:r>
            <a:r>
              <a:rPr lang="en-US" b="1" dirty="0"/>
              <a:t>:</a:t>
            </a:r>
            <a:r>
              <a:rPr lang="en-US" dirty="0"/>
              <a:t> Minimal impact on the current dataset.</a:t>
            </a:r>
          </a:p>
          <a:p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350798"/>
              </p:ext>
            </p:extLst>
          </p:nvPr>
        </p:nvGraphicFramePr>
        <p:xfrm>
          <a:off x="1975644" y="4113405"/>
          <a:ext cx="3937000" cy="2232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7744261"/>
              </p:ext>
            </p:extLst>
          </p:nvPr>
        </p:nvGraphicFramePr>
        <p:xfrm>
          <a:off x="6773067" y="4113405"/>
          <a:ext cx="4034633" cy="2232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8068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390" y="235129"/>
            <a:ext cx="5020991" cy="862149"/>
          </a:xfrm>
        </p:spPr>
        <p:txBody>
          <a:bodyPr>
            <a:noAutofit/>
          </a:bodyPr>
          <a:lstStyle/>
          <a:p>
            <a:pPr algn="l"/>
            <a:r>
              <a:rPr lang="en-US" sz="3200" b="1" u="sng" dirty="0"/>
              <a:t>Weather Condition Analysis</a:t>
            </a:r>
            <a:endParaRPr lang="en-US" sz="3200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9166" y="1345474"/>
            <a:ext cx="5171215" cy="3291840"/>
          </a:xfrm>
        </p:spPr>
        <p:txBody>
          <a:bodyPr>
            <a:normAutofit fontScale="92500"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/>
              <a:t>Clear/Mist:</a:t>
            </a:r>
            <a:r>
              <a:rPr lang="en-US" sz="2200" dirty="0"/>
              <a:t> Highest demand.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/>
              <a:t>Light Rain:</a:t>
            </a:r>
            <a:r>
              <a:rPr lang="en-US" sz="2200" dirty="0"/>
              <a:t> Noticeable drop in volume.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/>
              <a:t>Heavy Rain/Extreme:</a:t>
            </a:r>
            <a:r>
              <a:rPr lang="en-US" sz="2200" dirty="0"/>
              <a:t> -46% demand drop. Capacity can be diverted or maintenance scheduled during these periods</a:t>
            </a:r>
            <a:r>
              <a:rPr lang="en-US" sz="2200" dirty="0" smtClean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1" dirty="0"/>
              <a:t>Average rentals in "Mist/Cloudy" conditions: ~</a:t>
            </a:r>
            <a:r>
              <a:rPr lang="en-US" sz="2200" dirty="0" smtClean="0"/>
              <a:t>62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1" dirty="0" smtClean="0"/>
              <a:t>Average </a:t>
            </a:r>
            <a:r>
              <a:rPr lang="en-US" sz="2200" b="1" dirty="0"/>
              <a:t>rentals in "Heavy Rain": ~</a:t>
            </a:r>
            <a:r>
              <a:rPr lang="en-US" sz="2200" dirty="0"/>
              <a:t>33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361835"/>
              </p:ext>
            </p:extLst>
          </p:nvPr>
        </p:nvGraphicFramePr>
        <p:xfrm>
          <a:off x="6760028" y="1345473"/>
          <a:ext cx="5212080" cy="5185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1306284" y="4835749"/>
            <a:ext cx="50814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Conclusion</a:t>
            </a:r>
            <a:r>
              <a:rPr lang="en-US" b="1" u="sng" dirty="0" smtClean="0"/>
              <a:t>:  </a:t>
            </a:r>
            <a:r>
              <a:rPr lang="en-US" sz="2000" dirty="0"/>
              <a:t>Weather is the strongest external predictor of daily volume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23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11035"/>
            <a:ext cx="10018713" cy="1195252"/>
          </a:xfrm>
        </p:spPr>
        <p:txBody>
          <a:bodyPr/>
          <a:lstStyle/>
          <a:p>
            <a:r>
              <a:rPr lang="en-US" b="1" u="sng" dirty="0"/>
              <a:t>Key Performance Indicators (KPIs)</a:t>
            </a:r>
            <a:endParaRPr lang="en-US" u="sng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444232"/>
              </p:ext>
            </p:extLst>
          </p:nvPr>
        </p:nvGraphicFramePr>
        <p:xfrm>
          <a:off x="1680256" y="1097279"/>
          <a:ext cx="10246132" cy="499146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63390">
                  <a:extLst>
                    <a:ext uri="{9D8B030D-6E8A-4147-A177-3AD203B41FA5}">
                      <a16:colId xmlns:a16="http://schemas.microsoft.com/office/drawing/2014/main" val="135866378"/>
                    </a:ext>
                  </a:extLst>
                </a:gridCol>
                <a:gridCol w="2612571">
                  <a:extLst>
                    <a:ext uri="{9D8B030D-6E8A-4147-A177-3AD203B41FA5}">
                      <a16:colId xmlns:a16="http://schemas.microsoft.com/office/drawing/2014/main" val="826765240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546281069"/>
                    </a:ext>
                  </a:extLst>
                </a:gridCol>
                <a:gridCol w="3853542">
                  <a:extLst>
                    <a:ext uri="{9D8B030D-6E8A-4147-A177-3AD203B41FA5}">
                      <a16:colId xmlns:a16="http://schemas.microsoft.com/office/drawing/2014/main" val="3458208458"/>
                    </a:ext>
                  </a:extLst>
                </a:gridCol>
              </a:tblGrid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200" u="none" strike="noStrike" dirty="0">
                          <a:effectLst/>
                        </a:rPr>
                        <a:t>Category</a:t>
                      </a:r>
                      <a:endParaRPr 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200" u="none" strike="noStrike" dirty="0">
                          <a:effectLst/>
                        </a:rPr>
                        <a:t>KPI Name</a:t>
                      </a:r>
                      <a:endParaRPr 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200" u="none" strike="noStrike" dirty="0">
                          <a:effectLst/>
                        </a:rPr>
                        <a:t>Current Value</a:t>
                      </a:r>
                      <a:endParaRPr 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200" u="none" strike="noStrike" dirty="0">
                          <a:effectLst/>
                        </a:rPr>
                        <a:t>Business Insight</a:t>
                      </a:r>
                      <a:endParaRPr lang="en-US" sz="22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548034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Volume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Total Rentals (Count)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58,304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Total market demand within the period.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274727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Volume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Max Hourly Load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249 Bikes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Peak capacity required at your busiest station.</a:t>
                      </a:r>
                      <a:endParaRPr lang="en-US" sz="1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5785779"/>
                  </a:ext>
                </a:extLst>
              </a:tr>
              <a:tr h="6052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Efficiency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Commute Efficiency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172 (Avg at 5 PM)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Shows the service's primary value as a transit solution.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5689260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Efficiency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Working Day Advantage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+41% Volume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Higher average demand on workdays (58.7) vs. holidays (41.7).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1874029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User Type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Member Loyalty Rate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91.60%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Registered users are the backbone of the business.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1660815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User Type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Weekend Tourism Growth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~1,350 Casual/Day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Casual users are 3x more active on weekends than weekdays.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1010627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Weather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Rain Sensitivity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-46% Demand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Drop in average rentals during Heavy Rain vs. Clear/Mist.</a:t>
                      </a:r>
                      <a:endParaRPr lang="en-US" sz="18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0673765"/>
                  </a:ext>
                </a:extLst>
              </a:tr>
              <a:tr h="547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Weather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Humidity Impact</a:t>
                      </a:r>
                      <a:endParaRPr lang="en-US" sz="18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-34% Demand</a:t>
                      </a:r>
                      <a:endParaRPr lang="en-US" sz="18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High humidity (&gt;60) significantly reduces bike usage.</a:t>
                      </a:r>
                      <a:endParaRPr lang="en-US" sz="18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9610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45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149531"/>
          </a:xfrm>
        </p:spPr>
        <p:txBody>
          <a:bodyPr/>
          <a:lstStyle/>
          <a:p>
            <a:r>
              <a:rPr lang="en-US" b="1" u="sng" dirty="0"/>
              <a:t>Strategic Recommendations</a:t>
            </a:r>
            <a:endParaRPr lang="en-US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4309" y="1058091"/>
            <a:ext cx="10018713" cy="477229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/>
              <a:t>Dynamic Capacity:</a:t>
            </a:r>
            <a:r>
              <a:rPr lang="en-US" dirty="0"/>
              <a:t> Increase bike availability during 5 PM peaks on </a:t>
            </a:r>
            <a:r>
              <a:rPr lang="en-US" dirty="0" smtClean="0"/>
              <a:t>Thursdays , Fridays and </a:t>
            </a:r>
            <a:r>
              <a:rPr lang="en-US" dirty="0" err="1" smtClean="0"/>
              <a:t>sundays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b="1" dirty="0"/>
              <a:t>Incentivize Casuals:</a:t>
            </a:r>
            <a:r>
              <a:rPr lang="en-US" dirty="0"/>
              <a:t> Introduce "Weekend Passes" for tourism growth.</a:t>
            </a:r>
          </a:p>
          <a:p>
            <a:pPr lvl="0"/>
            <a:r>
              <a:rPr lang="en-US" b="1" dirty="0"/>
              <a:t>Weather Notifications:</a:t>
            </a:r>
            <a:r>
              <a:rPr lang="en-US" dirty="0"/>
              <a:t> Use the humidity-demand link to send "Good Weather" alerts to users</a:t>
            </a:r>
            <a:r>
              <a:rPr lang="en-US" dirty="0" smtClean="0"/>
              <a:t>.</a:t>
            </a:r>
          </a:p>
          <a:p>
            <a:pPr lvl="0"/>
            <a:r>
              <a:rPr lang="en-US" b="1" dirty="0"/>
              <a:t>Rainy Day Credits:</a:t>
            </a:r>
            <a:r>
              <a:rPr lang="en-US" dirty="0"/>
              <a:t> Offer discounts during heavy rain to offset the 46% demand drop</a:t>
            </a:r>
            <a:r>
              <a:rPr lang="en-US" dirty="0" smtClean="0"/>
              <a:t>.</a:t>
            </a:r>
          </a:p>
          <a:p>
            <a:pPr lvl="0"/>
            <a:r>
              <a:rPr lang="en-US" b="1" dirty="0"/>
              <a:t>Maintenance Windows:</a:t>
            </a:r>
            <a:r>
              <a:rPr lang="en-US" dirty="0"/>
              <a:t> Schedule repairs during extreme weather to ensure a 100% available fleet for clear days</a:t>
            </a:r>
            <a:r>
              <a:rPr lang="en-US" dirty="0" smtClean="0"/>
              <a:t>.</a:t>
            </a:r>
          </a:p>
          <a:p>
            <a:pPr lvl="0"/>
            <a:r>
              <a:rPr lang="en-US" b="1" dirty="0"/>
              <a:t>Humidity Nudges:</a:t>
            </a:r>
            <a:r>
              <a:rPr lang="en-US" dirty="0"/>
              <a:t> Send push notifications for "Optimal Riding Windows" when humidity is below 60</a:t>
            </a:r>
            <a:r>
              <a:rPr lang="en-US" dirty="0" smtClean="0"/>
              <a:t>%.</a:t>
            </a:r>
          </a:p>
          <a:p>
            <a:pPr lvl="0"/>
            <a:r>
              <a:rPr lang="en-US" b="1" dirty="0"/>
              <a:t>Commuter Points:</a:t>
            </a:r>
            <a:r>
              <a:rPr lang="en-US" dirty="0"/>
              <a:t> Reward users who ride both morning and evening peaks with redeemable points.</a:t>
            </a:r>
          </a:p>
        </p:txBody>
      </p:sp>
    </p:spTree>
    <p:extLst>
      <p:ext uri="{BB962C8B-B14F-4D97-AF65-F5344CB8AC3E}">
        <p14:creationId xmlns:p14="http://schemas.microsoft.com/office/powerpoint/2010/main" val="116418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000" dirty="0" smtClean="0"/>
              <a:t>THANKYOU!</a:t>
            </a: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19796572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818</TotalTime>
  <Words>725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Strategic Analysis of Bike-Sharing Demand (2011)</vt:lpstr>
      <vt:lpstr>Project Objectives :</vt:lpstr>
      <vt:lpstr>Data Summary &amp; Statistics</vt:lpstr>
      <vt:lpstr>Key Insights &amp; Correlations</vt:lpstr>
      <vt:lpstr>User Type Breakdown</vt:lpstr>
      <vt:lpstr>Hourly Rental Trends (Commute Focus)</vt:lpstr>
      <vt:lpstr>PowerPoint Presentation</vt:lpstr>
      <vt:lpstr>Environmental Impact </vt:lpstr>
      <vt:lpstr>Weather Condition Analysis</vt:lpstr>
      <vt:lpstr>Key Performance Indicators (KPIs)</vt:lpstr>
      <vt:lpstr>Strategic Recommendations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Analysis of Bike-Sharing Demand (2011)</dc:title>
  <dc:creator>admin</dc:creator>
  <cp:lastModifiedBy>admin</cp:lastModifiedBy>
  <cp:revision>59</cp:revision>
  <dcterms:created xsi:type="dcterms:W3CDTF">2026-03-21T09:43:49Z</dcterms:created>
  <dcterms:modified xsi:type="dcterms:W3CDTF">2026-03-24T12:41:16Z</dcterms:modified>
</cp:coreProperties>
</file>